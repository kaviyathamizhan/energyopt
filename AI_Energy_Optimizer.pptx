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85DD7F28-0752-4633-AC77-959900E07AC3}">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93B"/>
                </a:solidFill>
                <a:latin typeface="Arial"/>
              </a:defRPr>
            </a:pPr>
            <a:r>
              <a:rPr lang="en-US" sz="1100" b="0" i="0" u="none" strike="noStrike">
                <a:solidFill>
                  <a:srgbClr val="1E293B"/>
                </a:solidFill>
                <a:latin typeface="Arial"/>
              </a:rPr>
              <a:t>Model RMSE Comparison (lower = better)</a:t>
            </a:r>
          </a:p>
        </c:rich>
      </c:tx>
      <c:overlay val="0"/>
    </c:title>
    <c:autoTitleDeleted val="0"/>
    <c:plotArea>
      <c:layout>
        <c:manualLayout>
          <c:layoutTarget val="inner"/>
          <c:xMode val="edge"/>
          <c:yMode val="edge"/>
          <c:x val="8.0248589615953173E-2"/>
          <c:y val="0.19578112877399761"/>
          <c:w val="0.89341041421546441"/>
          <c:h val="0.58955165981610791"/>
        </c:manualLayout>
      </c:layout>
      <c:barChart>
        <c:barDir val="col"/>
        <c:grouping val="clustered"/>
        <c:varyColors val="0"/>
        <c:ser>
          <c:idx val="0"/>
          <c:order val="0"/>
          <c:tx>
            <c:strRef>
              <c:f>Sheet1!$B$1</c:f>
              <c:strCache>
                <c:ptCount val="1"/>
                <c:pt idx="0">
                  <c:v>RMSE</c:v>
                </c:pt>
              </c:strCache>
            </c:strRef>
          </c:tx>
          <c:spPr>
            <a:solidFill>
              <a:srgbClr val="CBD5E1"/>
            </a:solidFill>
            <a:effectLst/>
          </c:spPr>
          <c:invertIfNegative val="0"/>
          <c:dPt>
            <c:idx val="0"/>
            <c:invertIfNegative val="0"/>
            <c:bubble3D val="0"/>
            <c:spPr>
              <a:solidFill>
                <a:srgbClr val="CBD5E1"/>
              </a:solidFill>
              <a:effectLst/>
            </c:spPr>
            <c:extLst>
              <c:ext xmlns:c16="http://schemas.microsoft.com/office/drawing/2014/chart" uri="{C3380CC4-5D6E-409C-BE32-E72D297353CC}">
                <c16:uniqueId val="{00000001-2CB5-4822-A6A9-6009B77878B8}"/>
              </c:ext>
            </c:extLst>
          </c:dPt>
          <c:dPt>
            <c:idx val="1"/>
            <c:invertIfNegative val="0"/>
            <c:bubble3D val="0"/>
            <c:spPr>
              <a:solidFill>
                <a:srgbClr val="94A3B8"/>
              </a:solidFill>
              <a:effectLst/>
            </c:spPr>
            <c:extLst>
              <c:ext xmlns:c16="http://schemas.microsoft.com/office/drawing/2014/chart" uri="{C3380CC4-5D6E-409C-BE32-E72D297353CC}">
                <c16:uniqueId val="{00000003-2CB5-4822-A6A9-6009B77878B8}"/>
              </c:ext>
            </c:extLst>
          </c:dPt>
          <c:dPt>
            <c:idx val="2"/>
            <c:invertIfNegative val="0"/>
            <c:bubble3D val="0"/>
            <c:spPr>
              <a:solidFill>
                <a:srgbClr val="64748B"/>
              </a:solidFill>
              <a:effectLst/>
            </c:spPr>
            <c:extLst>
              <c:ext xmlns:c16="http://schemas.microsoft.com/office/drawing/2014/chart" uri="{C3380CC4-5D6E-409C-BE32-E72D297353CC}">
                <c16:uniqueId val="{00000005-2CB5-4822-A6A9-6009B77878B8}"/>
              </c:ext>
            </c:extLst>
          </c:dPt>
          <c:dPt>
            <c:idx val="3"/>
            <c:invertIfNegative val="0"/>
            <c:bubble3D val="0"/>
            <c:spPr>
              <a:solidFill>
                <a:srgbClr val="1C7293"/>
              </a:solidFill>
              <a:effectLst/>
            </c:spPr>
            <c:extLst>
              <c:ext xmlns:c16="http://schemas.microsoft.com/office/drawing/2014/chart" uri="{C3380CC4-5D6E-409C-BE32-E72D297353CC}">
                <c16:uniqueId val="{00000007-2CB5-4822-A6A9-6009B77878B8}"/>
              </c:ext>
            </c:extLst>
          </c:dPt>
          <c:dPt>
            <c:idx val="4"/>
            <c:invertIfNegative val="0"/>
            <c:bubble3D val="0"/>
            <c:spPr>
              <a:solidFill>
                <a:srgbClr val="0A7C6E"/>
              </a:solidFill>
              <a:effectLst/>
            </c:spPr>
            <c:extLst>
              <c:ext xmlns:c16="http://schemas.microsoft.com/office/drawing/2014/chart" uri="{C3380CC4-5D6E-409C-BE32-E72D297353CC}">
                <c16:uniqueId val="{00000009-2CB5-4822-A6A9-6009B77878B8}"/>
              </c:ext>
            </c:extLst>
          </c:dPt>
          <c:cat>
            <c:strRef>
              <c:f>Sheet1!$A$2:$A$6</c:f>
              <c:strCache>
                <c:ptCount val="5"/>
                <c:pt idx="0">
                  <c:v>Naive Baseline</c:v>
                </c:pt>
                <c:pt idx="1">
                  <c:v>Linear Reg.</c:v>
                </c:pt>
                <c:pt idx="2">
                  <c:v>Random Forest</c:v>
                </c:pt>
                <c:pt idx="3">
                  <c:v>XGBoost</c:v>
                </c:pt>
                <c:pt idx="4">
                  <c:v>LightGBM ✓</c:v>
                </c:pt>
              </c:strCache>
            </c:strRef>
          </c:cat>
          <c:val>
            <c:numRef>
              <c:f>Sheet1!$B$2:$B$6</c:f>
              <c:numCache>
                <c:formatCode>General</c:formatCode>
                <c:ptCount val="5"/>
                <c:pt idx="0">
                  <c:v>0.97899999999999998</c:v>
                </c:pt>
                <c:pt idx="1">
                  <c:v>0.63600000000000001</c:v>
                </c:pt>
                <c:pt idx="2">
                  <c:v>0.58699999999999997</c:v>
                </c:pt>
                <c:pt idx="3">
                  <c:v>0.57999999999999996</c:v>
                </c:pt>
                <c:pt idx="4">
                  <c:v>0.504</c:v>
                </c:pt>
              </c:numCache>
            </c:numRef>
          </c:val>
          <c:extLst>
            <c:ext xmlns:c16="http://schemas.microsoft.com/office/drawing/2014/chart" uri="{C3380CC4-5D6E-409C-BE32-E72D297353CC}">
              <c16:uniqueId val="{0000000A-2CB5-4822-A6A9-6009B77878B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823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C6E"/>
          </a:solidFill>
          <a:ln w="12700">
            <a:solidFill>
              <a:srgbClr val="0A7C6E"/>
            </a:solidFill>
            <a:prstDash val="solid"/>
          </a:ln>
        </p:spPr>
      </p:sp>
      <p:sp>
        <p:nvSpPr>
          <p:cNvPr id="3" name="Shape 1"/>
          <p:cNvSpPr/>
          <p:nvPr/>
        </p:nvSpPr>
        <p:spPr>
          <a:xfrm>
            <a:off x="0" y="4754880"/>
            <a:ext cx="9144000" cy="388620"/>
          </a:xfrm>
          <a:prstGeom prst="rect">
            <a:avLst/>
          </a:prstGeom>
          <a:solidFill>
            <a:srgbClr val="0A7C6E">
              <a:alpha val="20000"/>
            </a:srgbClr>
          </a:solidFill>
          <a:ln w="12700">
            <a:solidFill>
              <a:srgbClr val="0A7C6E"/>
            </a:solidFill>
            <a:prstDash val="solid"/>
          </a:ln>
        </p:spPr>
      </p:sp>
      <p:sp>
        <p:nvSpPr>
          <p:cNvPr id="4" name="Shape 2"/>
          <p:cNvSpPr/>
          <p:nvPr/>
        </p:nvSpPr>
        <p:spPr>
          <a:xfrm>
            <a:off x="4382589" y="841248"/>
            <a:ext cx="822960" cy="822960"/>
          </a:xfrm>
          <a:prstGeom prst="ellipse">
            <a:avLst/>
          </a:prstGeom>
          <a:solidFill>
            <a:srgbClr val="0A7C6E"/>
          </a:solidFill>
          <a:ln w="12700">
            <a:solidFill>
              <a:srgbClr val="0A7C6E"/>
            </a:solidFill>
            <a:prstDash val="solid"/>
          </a:ln>
        </p:spPr>
      </p:sp>
      <p:pic>
        <p:nvPicPr>
          <p:cNvPr id="5" name="Image 0" descr="preencoded.png"/>
          <p:cNvPicPr>
            <a:picLocks noChangeAspect="1"/>
          </p:cNvPicPr>
          <p:nvPr/>
        </p:nvPicPr>
        <p:blipFill>
          <a:blip r:embed="rId3"/>
          <a:stretch>
            <a:fillRect/>
          </a:stretch>
        </p:blipFill>
        <p:spPr>
          <a:xfrm>
            <a:off x="4547181" y="1005840"/>
            <a:ext cx="493776" cy="493776"/>
          </a:xfrm>
          <a:prstGeom prst="rect">
            <a:avLst/>
          </a:prstGeom>
        </p:spPr>
      </p:pic>
      <p:sp>
        <p:nvSpPr>
          <p:cNvPr id="6" name="Text 3"/>
          <p:cNvSpPr/>
          <p:nvPr/>
        </p:nvSpPr>
        <p:spPr>
          <a:xfrm>
            <a:off x="1207008" y="1581912"/>
            <a:ext cx="7315200" cy="91440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AI Energy Consumption Optimizer</a:t>
            </a:r>
            <a:endParaRPr lang="en-US" sz="3600" dirty="0"/>
          </a:p>
        </p:txBody>
      </p:sp>
      <p:sp>
        <p:nvSpPr>
          <p:cNvPr id="20" name="Text 14"/>
          <p:cNvSpPr/>
          <p:nvPr/>
        </p:nvSpPr>
        <p:spPr>
          <a:xfrm>
            <a:off x="228600" y="4773168"/>
            <a:ext cx="8686800" cy="274320"/>
          </a:xfrm>
          <a:prstGeom prst="rect">
            <a:avLst/>
          </a:prstGeom>
          <a:noFill/>
          <a:ln/>
        </p:spPr>
        <p:txBody>
          <a:bodyPr wrap="square" lIns="0" tIns="0" rIns="0" bIns="0" rtlCol="0" anchor="ctr"/>
          <a:lstStyle/>
          <a:p>
            <a:pPr marL="0" indent="0" algn="ctr">
              <a:buNone/>
            </a:pPr>
            <a:r>
              <a:rPr lang="en-US" sz="900" dirty="0">
                <a:solidFill>
                  <a:srgbClr val="FFFFFF"/>
                </a:solidFill>
                <a:latin typeface="Trebuchet MS" pitchFamily="34" charset="0"/>
                <a:ea typeface="Trebuchet MS" pitchFamily="34" charset="-122"/>
                <a:cs typeface="Trebuchet MS" pitchFamily="34" charset="-120"/>
              </a:rPr>
              <a:t>Dataset: UCI Household Power Consumption  |  4 Years  |  2M+ Records</a:t>
            </a:r>
            <a:endParaRPr lang="en-US" sz="900" dirty="0"/>
          </a:p>
        </p:txBody>
      </p:sp>
      <p:sp>
        <p:nvSpPr>
          <p:cNvPr id="21" name="TextBox 20">
            <a:extLst>
              <a:ext uri="{FF2B5EF4-FFF2-40B4-BE49-F238E27FC236}">
                <a16:creationId xmlns:a16="http://schemas.microsoft.com/office/drawing/2014/main" id="{C0E1A86B-5E73-49A0-8E2D-8440FA6C0D08}"/>
              </a:ext>
            </a:extLst>
          </p:cNvPr>
          <p:cNvSpPr txBox="1"/>
          <p:nvPr/>
        </p:nvSpPr>
        <p:spPr>
          <a:xfrm>
            <a:off x="2599509" y="2557204"/>
            <a:ext cx="4207197" cy="1107996"/>
          </a:xfrm>
          <a:prstGeom prst="rect">
            <a:avLst/>
          </a:prstGeom>
          <a:noFill/>
        </p:spPr>
        <p:txBody>
          <a:bodyPr wrap="square" rtlCol="0">
            <a:spAutoFit/>
          </a:bodyPr>
          <a:lstStyle/>
          <a:p>
            <a:pPr algn="ctr"/>
            <a:r>
              <a:rPr lang="en-US" sz="2400" dirty="0" err="1">
                <a:solidFill>
                  <a:schemeClr val="bg1"/>
                </a:solidFill>
                <a:latin typeface="Times New Roman" panose="02020603050405020304" pitchFamily="18" charset="0"/>
                <a:cs typeface="Times New Roman" panose="02020603050405020304" pitchFamily="18" charset="0"/>
              </a:rPr>
              <a:t>Kaviyathamizhan</a:t>
            </a:r>
            <a:r>
              <a:rPr lang="en-US" sz="2400" dirty="0">
                <a:solidFill>
                  <a:schemeClr val="bg1"/>
                </a:solidFill>
                <a:latin typeface="Times New Roman" panose="02020603050405020304" pitchFamily="18" charset="0"/>
                <a:cs typeface="Times New Roman" panose="02020603050405020304" pitchFamily="18" charset="0"/>
              </a:rPr>
              <a:t> T K</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G36 Python</a:t>
            </a:r>
          </a:p>
          <a:p>
            <a:endParaRPr lang="en-IN"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291954" y="126009"/>
            <a:ext cx="2018212" cy="329184"/>
          </a:xfrm>
          <a:prstGeom prst="roundRect">
            <a:avLst>
              <a:gd name="adj" fmla="val 21429"/>
            </a:avLst>
          </a:prstGeom>
          <a:solidFill>
            <a:srgbClr val="0A7C6E"/>
          </a:solidFill>
          <a:ln w="12700">
            <a:solidFill>
              <a:srgbClr val="0A7C6E"/>
            </a:solidFill>
            <a:prstDash val="solid"/>
          </a:ln>
        </p:spPr>
        <p:txBody>
          <a:bodyPr/>
          <a:lstStyle/>
          <a:p>
            <a:endParaRPr lang="en-IN" dirty="0"/>
          </a:p>
        </p:txBody>
      </p:sp>
      <p:sp>
        <p:nvSpPr>
          <p:cNvPr id="3" name="Text 1"/>
          <p:cNvSpPr/>
          <p:nvPr/>
        </p:nvSpPr>
        <p:spPr>
          <a:xfrm>
            <a:off x="291954" y="132588"/>
            <a:ext cx="2018212" cy="322605"/>
          </a:xfrm>
          <a:prstGeom prst="rect">
            <a:avLst/>
          </a:prstGeom>
          <a:noFill/>
          <a:ln/>
        </p:spPr>
        <p:txBody>
          <a:bodyPr wrap="square" lIns="0" tIns="0" rIns="0" bIns="0" rtlCol="0" anchor="ctr"/>
          <a:lstStyle/>
          <a:p>
            <a:pPr marL="0" indent="0" algn="ctr">
              <a:buNone/>
            </a:pPr>
            <a:r>
              <a:rPr lang="en-US" sz="1100" b="1" kern="0" spc="200" dirty="0">
                <a:solidFill>
                  <a:srgbClr val="FFFFFF"/>
                </a:solidFill>
              </a:rPr>
              <a:t>PROBLEM STATEMENT</a:t>
            </a:r>
            <a:endParaRPr lang="en-US" sz="1100" dirty="0"/>
          </a:p>
        </p:txBody>
      </p:sp>
      <p:sp>
        <p:nvSpPr>
          <p:cNvPr id="4" name="Text 2"/>
          <p:cNvSpPr/>
          <p:nvPr/>
        </p:nvSpPr>
        <p:spPr>
          <a:xfrm>
            <a:off x="365760" y="740664"/>
            <a:ext cx="8412480" cy="475488"/>
          </a:xfrm>
          <a:prstGeom prst="rect">
            <a:avLst/>
          </a:prstGeom>
          <a:noFill/>
          <a:ln/>
        </p:spPr>
        <p:txBody>
          <a:bodyPr wrap="square" lIns="0" tIns="0" rIns="0" bIns="0" rtlCol="0" anchor="ctr"/>
          <a:lstStyle/>
          <a:p>
            <a:pPr marL="0" indent="0">
              <a:buNone/>
            </a:pPr>
            <a:r>
              <a:rPr lang="en-US" sz="2600" b="1" dirty="0">
                <a:solidFill>
                  <a:srgbClr val="0D1B2A"/>
                </a:solidFill>
                <a:latin typeface="Trebuchet MS" pitchFamily="34" charset="0"/>
                <a:ea typeface="Trebuchet MS" pitchFamily="34" charset="-122"/>
                <a:cs typeface="Trebuchet MS" pitchFamily="34" charset="-120"/>
              </a:rPr>
              <a:t>Why Energy Management Needs Intelligence</a:t>
            </a:r>
            <a:endParaRPr lang="en-US" sz="2600" dirty="0"/>
          </a:p>
        </p:txBody>
      </p:sp>
      <p:sp>
        <p:nvSpPr>
          <p:cNvPr id="5" name="Shape 3"/>
          <p:cNvSpPr/>
          <p:nvPr/>
        </p:nvSpPr>
        <p:spPr>
          <a:xfrm>
            <a:off x="347472" y="1278854"/>
            <a:ext cx="8412480" cy="0"/>
          </a:xfrm>
          <a:prstGeom prst="line">
            <a:avLst/>
          </a:prstGeom>
          <a:noFill/>
          <a:ln w="12700">
            <a:solidFill>
              <a:srgbClr val="E2E8F0"/>
            </a:solidFill>
            <a:prstDash val="solid"/>
          </a:ln>
        </p:spPr>
      </p:sp>
      <p:pic>
        <p:nvPicPr>
          <p:cNvPr id="8" name="Image 0" descr="preencoded.png"/>
          <p:cNvPicPr>
            <a:picLocks noChangeAspect="1"/>
          </p:cNvPicPr>
          <p:nvPr/>
        </p:nvPicPr>
        <p:blipFill>
          <a:blip r:embed="rId3"/>
          <a:stretch>
            <a:fillRect/>
          </a:stretch>
        </p:blipFill>
        <p:spPr>
          <a:xfrm>
            <a:off x="487244" y="3478311"/>
            <a:ext cx="411480" cy="411480"/>
          </a:xfrm>
          <a:prstGeom prst="rect">
            <a:avLst/>
          </a:prstGeom>
          <a:solidFill>
            <a:schemeClr val="tx1"/>
          </a:solidFill>
        </p:spPr>
      </p:pic>
      <p:sp>
        <p:nvSpPr>
          <p:cNvPr id="9" name="Text 6"/>
          <p:cNvSpPr/>
          <p:nvPr/>
        </p:nvSpPr>
        <p:spPr>
          <a:xfrm>
            <a:off x="978408" y="3478311"/>
            <a:ext cx="3337560" cy="246888"/>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Reactive, Not Proactive</a:t>
            </a:r>
            <a:endParaRPr lang="en-US" sz="1300" dirty="0"/>
          </a:p>
        </p:txBody>
      </p:sp>
      <p:sp>
        <p:nvSpPr>
          <p:cNvPr id="10" name="Text 7"/>
          <p:cNvSpPr/>
          <p:nvPr/>
        </p:nvSpPr>
        <p:spPr>
          <a:xfrm>
            <a:off x="978408" y="3653682"/>
            <a:ext cx="3337560" cy="369678"/>
          </a:xfrm>
          <a:prstGeom prst="rect">
            <a:avLst/>
          </a:prstGeom>
          <a:noFill/>
          <a:ln/>
        </p:spPr>
        <p:txBody>
          <a:bodyPr wrap="square" lIns="0" tIns="0" rIns="0" bIns="0" rtlCol="0" anchor="ctr"/>
          <a:lstStyle/>
          <a:p>
            <a:pPr marL="0" indent="0">
              <a:buNone/>
            </a:pPr>
            <a:r>
              <a:rPr lang="en-US" sz="1050" dirty="0">
                <a:solidFill>
                  <a:srgbClr val="64748B"/>
                </a:solidFill>
                <a:latin typeface="Trebuchet MS" pitchFamily="34" charset="0"/>
                <a:ea typeface="Trebuchet MS" pitchFamily="34" charset="-122"/>
                <a:cs typeface="Trebuchet MS" pitchFamily="34" charset="-120"/>
              </a:rPr>
              <a:t>Bills arrive after waste has already occurred. No foresight into future load.</a:t>
            </a:r>
            <a:endParaRPr lang="en-US" sz="1050" dirty="0"/>
          </a:p>
        </p:txBody>
      </p:sp>
      <p:pic>
        <p:nvPicPr>
          <p:cNvPr id="13" name="Image 1" descr="preencoded.png"/>
          <p:cNvPicPr>
            <a:picLocks noChangeAspect="1"/>
          </p:cNvPicPr>
          <p:nvPr/>
        </p:nvPicPr>
        <p:blipFill>
          <a:blip r:embed="rId4"/>
          <a:stretch>
            <a:fillRect/>
          </a:stretch>
        </p:blipFill>
        <p:spPr>
          <a:xfrm>
            <a:off x="4910328" y="3478311"/>
            <a:ext cx="411480" cy="411480"/>
          </a:xfrm>
          <a:prstGeom prst="rect">
            <a:avLst/>
          </a:prstGeom>
          <a:solidFill>
            <a:schemeClr val="tx1"/>
          </a:solidFill>
        </p:spPr>
      </p:pic>
      <p:sp>
        <p:nvSpPr>
          <p:cNvPr id="14" name="Text 10"/>
          <p:cNvSpPr/>
          <p:nvPr/>
        </p:nvSpPr>
        <p:spPr>
          <a:xfrm>
            <a:off x="5422392" y="3445982"/>
            <a:ext cx="3337560" cy="238069"/>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Zero Consumption Visibility</a:t>
            </a:r>
            <a:endParaRPr lang="en-US" sz="1300" dirty="0"/>
          </a:p>
        </p:txBody>
      </p:sp>
      <p:sp>
        <p:nvSpPr>
          <p:cNvPr id="15" name="Text 11"/>
          <p:cNvSpPr/>
          <p:nvPr/>
        </p:nvSpPr>
        <p:spPr>
          <a:xfrm>
            <a:off x="5422392" y="3623471"/>
            <a:ext cx="3337560" cy="386661"/>
          </a:xfrm>
          <a:prstGeom prst="rect">
            <a:avLst/>
          </a:prstGeom>
          <a:noFill/>
          <a:ln/>
        </p:spPr>
        <p:txBody>
          <a:bodyPr wrap="square" lIns="0" tIns="0" rIns="0" bIns="0" rtlCol="0" anchor="ctr"/>
          <a:lstStyle/>
          <a:p>
            <a:pPr marL="0" indent="0">
              <a:buNone/>
            </a:pPr>
            <a:r>
              <a:rPr lang="en-US" sz="1050" dirty="0">
                <a:solidFill>
                  <a:srgbClr val="64748B"/>
                </a:solidFill>
                <a:latin typeface="Trebuchet MS" pitchFamily="34" charset="0"/>
                <a:ea typeface="Trebuchet MS" pitchFamily="34" charset="-122"/>
                <a:cs typeface="Trebuchet MS" pitchFamily="34" charset="-120"/>
              </a:rPr>
              <a:t>No model to predict hourly or daily demand patterns before they happen.</a:t>
            </a:r>
            <a:endParaRPr lang="en-US" sz="1050" dirty="0"/>
          </a:p>
        </p:txBody>
      </p:sp>
      <p:sp>
        <p:nvSpPr>
          <p:cNvPr id="19" name="Text 14"/>
          <p:cNvSpPr/>
          <p:nvPr/>
        </p:nvSpPr>
        <p:spPr>
          <a:xfrm>
            <a:off x="978408" y="4118391"/>
            <a:ext cx="3337560" cy="224028"/>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Anomalies Go Undetected</a:t>
            </a:r>
            <a:endParaRPr lang="en-US" sz="1300" dirty="0"/>
          </a:p>
        </p:txBody>
      </p:sp>
      <p:sp>
        <p:nvSpPr>
          <p:cNvPr id="20" name="Text 15"/>
          <p:cNvSpPr/>
          <p:nvPr/>
        </p:nvSpPr>
        <p:spPr>
          <a:xfrm>
            <a:off x="978408" y="4324131"/>
            <a:ext cx="3337560" cy="320041"/>
          </a:xfrm>
          <a:prstGeom prst="rect">
            <a:avLst/>
          </a:prstGeom>
          <a:noFill/>
          <a:ln/>
        </p:spPr>
        <p:txBody>
          <a:bodyPr wrap="square" lIns="0" tIns="0" rIns="0" bIns="0" rtlCol="0" anchor="ctr"/>
          <a:lstStyle/>
          <a:p>
            <a:pPr marL="0" indent="0">
              <a:buNone/>
            </a:pPr>
            <a:r>
              <a:rPr lang="en-US" sz="1050" dirty="0">
                <a:solidFill>
                  <a:srgbClr val="64748B"/>
                </a:solidFill>
                <a:latin typeface="Trebuchet MS" pitchFamily="34" charset="0"/>
                <a:ea typeface="Trebuchet MS" pitchFamily="34" charset="-122"/>
                <a:cs typeface="Trebuchet MS" pitchFamily="34" charset="-120"/>
              </a:rPr>
              <a:t>Equipment faults, energy theft, or HVAC failures linger for days unnoticed.</a:t>
            </a:r>
            <a:endParaRPr lang="en-US" sz="1050" dirty="0"/>
          </a:p>
        </p:txBody>
      </p:sp>
      <p:pic>
        <p:nvPicPr>
          <p:cNvPr id="23" name="Image 3" descr="preencoded.png"/>
          <p:cNvPicPr>
            <a:picLocks noChangeAspect="1"/>
          </p:cNvPicPr>
          <p:nvPr/>
        </p:nvPicPr>
        <p:blipFill>
          <a:blip r:embed="rId5"/>
          <a:stretch>
            <a:fillRect/>
          </a:stretch>
        </p:blipFill>
        <p:spPr>
          <a:xfrm>
            <a:off x="4910328" y="4136679"/>
            <a:ext cx="411480" cy="411480"/>
          </a:xfrm>
          <a:prstGeom prst="rect">
            <a:avLst/>
          </a:prstGeom>
          <a:solidFill>
            <a:schemeClr val="tx1"/>
          </a:solidFill>
        </p:spPr>
      </p:pic>
      <p:sp>
        <p:nvSpPr>
          <p:cNvPr id="24" name="Text 18"/>
          <p:cNvSpPr/>
          <p:nvPr/>
        </p:nvSpPr>
        <p:spPr>
          <a:xfrm>
            <a:off x="5422392" y="4100429"/>
            <a:ext cx="3337560" cy="259951"/>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No Cost-Aware Scheduling</a:t>
            </a:r>
            <a:endParaRPr lang="en-US" sz="1300" dirty="0"/>
          </a:p>
        </p:txBody>
      </p:sp>
      <p:sp>
        <p:nvSpPr>
          <p:cNvPr id="25" name="Text 19"/>
          <p:cNvSpPr/>
          <p:nvPr/>
        </p:nvSpPr>
        <p:spPr>
          <a:xfrm>
            <a:off x="5422392" y="4292776"/>
            <a:ext cx="3337560" cy="351393"/>
          </a:xfrm>
          <a:prstGeom prst="rect">
            <a:avLst/>
          </a:prstGeom>
          <a:noFill/>
          <a:ln/>
        </p:spPr>
        <p:txBody>
          <a:bodyPr wrap="square" lIns="0" tIns="0" rIns="0" bIns="0" rtlCol="0" anchor="ctr"/>
          <a:lstStyle/>
          <a:p>
            <a:pPr marL="0" indent="0">
              <a:buNone/>
            </a:pPr>
            <a:r>
              <a:rPr lang="en-US" sz="1050" dirty="0">
                <a:solidFill>
                  <a:srgbClr val="64748B"/>
                </a:solidFill>
                <a:latin typeface="Trebuchet MS" pitchFamily="34" charset="0"/>
                <a:ea typeface="Trebuchet MS" pitchFamily="34" charset="-122"/>
                <a:cs typeface="Trebuchet MS" pitchFamily="34" charset="-120"/>
              </a:rPr>
              <a:t>Flexible loads run at peak tariff hours. No optimization against time-of-use rates.</a:t>
            </a:r>
            <a:endParaRPr lang="en-US" sz="1050" dirty="0"/>
          </a:p>
        </p:txBody>
      </p:sp>
      <p:pic>
        <p:nvPicPr>
          <p:cNvPr id="18" name="Image 2" descr="preencoded.png"/>
          <p:cNvPicPr>
            <a:picLocks noChangeAspect="1"/>
          </p:cNvPicPr>
          <p:nvPr/>
        </p:nvPicPr>
        <p:blipFill>
          <a:blip r:embed="rId6"/>
          <a:stretch>
            <a:fillRect/>
          </a:stretch>
        </p:blipFill>
        <p:spPr>
          <a:xfrm>
            <a:off x="487244" y="4136679"/>
            <a:ext cx="411480" cy="411480"/>
          </a:xfrm>
          <a:prstGeom prst="rect">
            <a:avLst/>
          </a:prstGeom>
          <a:solidFill>
            <a:schemeClr val="tx1"/>
          </a:solidFill>
        </p:spPr>
      </p:pic>
      <p:sp>
        <p:nvSpPr>
          <p:cNvPr id="29" name="TextBox 28">
            <a:extLst>
              <a:ext uri="{FF2B5EF4-FFF2-40B4-BE49-F238E27FC236}">
                <a16:creationId xmlns:a16="http://schemas.microsoft.com/office/drawing/2014/main" id="{8286CA55-50AF-3444-5E49-910EFACFFBA5}"/>
              </a:ext>
            </a:extLst>
          </p:cNvPr>
          <p:cNvSpPr txBox="1"/>
          <p:nvPr/>
        </p:nvSpPr>
        <p:spPr>
          <a:xfrm>
            <a:off x="365760" y="1348740"/>
            <a:ext cx="8023207" cy="2369880"/>
          </a:xfrm>
          <a:prstGeom prst="rect">
            <a:avLst/>
          </a:prstGeom>
          <a:noFill/>
        </p:spPr>
        <p:txBody>
          <a:bodyPr wrap="square">
            <a:spAutoFit/>
          </a:bodyPr>
          <a:lstStyle/>
          <a:p>
            <a:pPr>
              <a:buNone/>
            </a:pPr>
            <a:r>
              <a:rPr lang="en-US" sz="1600" dirty="0"/>
              <a:t>Electricity consumption today is largely reactive rather than proactive. Users and organizations typically monitor usage only after it has occurred, which limits their ability to plan or optimize consumption effectively. There is also a lack of visibility into future demand, making it difficult to anticipate peak usage periods. Additionally, abnormal consumption patterns such as sudden spikes or inefficiencies often go unnoticed until they result in higher costs or system issues. Existing systems do not provide cost-aware recommendations based on time-of-use tariffs, leading to missed opportunities for savings.</a:t>
            </a:r>
          </a:p>
          <a:p>
            <a:pPr>
              <a:buNone/>
            </a:pPr>
            <a:br>
              <a:rPr lang="en-US" dirty="0"/>
            </a:b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280198" y="128018"/>
            <a:ext cx="1999924" cy="329180"/>
          </a:xfrm>
          <a:prstGeom prst="roundRect">
            <a:avLst>
              <a:gd name="adj" fmla="val 21429"/>
            </a:avLst>
          </a:prstGeom>
          <a:solidFill>
            <a:srgbClr val="0A7C6E"/>
          </a:solidFill>
          <a:ln w="12700">
            <a:solidFill>
              <a:srgbClr val="0A7C6E"/>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marL="0" indent="0" algn="ctr">
              <a:buNone/>
            </a:pPr>
            <a:r>
              <a:rPr lang="en-US" sz="1100" b="1" kern="0" spc="200" dirty="0">
                <a:solidFill>
                  <a:srgbClr val="FFFFFF"/>
                </a:solidFill>
              </a:rPr>
              <a:t>OBJECTIVES</a:t>
            </a:r>
            <a:endParaRPr lang="en-US" sz="1100" dirty="0"/>
          </a:p>
        </p:txBody>
      </p:sp>
      <p:sp>
        <p:nvSpPr>
          <p:cNvPr id="4" name="Text 2"/>
          <p:cNvSpPr/>
          <p:nvPr/>
        </p:nvSpPr>
        <p:spPr>
          <a:xfrm>
            <a:off x="365760" y="502920"/>
            <a:ext cx="8412480" cy="475488"/>
          </a:xfrm>
          <a:prstGeom prst="rect">
            <a:avLst/>
          </a:prstGeom>
          <a:noFill/>
          <a:ln/>
        </p:spPr>
        <p:txBody>
          <a:bodyPr wrap="square" lIns="0" tIns="0" rIns="0" bIns="0" rtlCol="0" anchor="ctr"/>
          <a:lstStyle/>
          <a:p>
            <a:pPr marL="0" indent="0">
              <a:buNone/>
            </a:pPr>
            <a:r>
              <a:rPr lang="en-US" sz="2600" b="1" dirty="0">
                <a:solidFill>
                  <a:srgbClr val="0D1B2A"/>
                </a:solidFill>
                <a:latin typeface="Trebuchet MS" pitchFamily="34" charset="0"/>
                <a:ea typeface="Trebuchet MS" pitchFamily="34" charset="-122"/>
                <a:cs typeface="Trebuchet MS" pitchFamily="34" charset="-120"/>
              </a:rPr>
              <a:t>Four Core Goals of This System</a:t>
            </a:r>
            <a:endParaRPr lang="en-US" sz="2600" dirty="0"/>
          </a:p>
        </p:txBody>
      </p:sp>
      <p:sp>
        <p:nvSpPr>
          <p:cNvPr id="5" name="Shape 3"/>
          <p:cNvSpPr/>
          <p:nvPr/>
        </p:nvSpPr>
        <p:spPr>
          <a:xfrm>
            <a:off x="365760" y="1024128"/>
            <a:ext cx="8412480" cy="0"/>
          </a:xfrm>
          <a:prstGeom prst="line">
            <a:avLst/>
          </a:prstGeom>
          <a:noFill/>
          <a:ln w="12700">
            <a:solidFill>
              <a:srgbClr val="E2E8F0"/>
            </a:solidFill>
            <a:prstDash val="solid"/>
          </a:ln>
        </p:spPr>
      </p:sp>
      <p:sp>
        <p:nvSpPr>
          <p:cNvPr id="6" name="Shape 4"/>
          <p:cNvSpPr/>
          <p:nvPr/>
        </p:nvSpPr>
        <p:spPr>
          <a:xfrm>
            <a:off x="365760" y="3177540"/>
            <a:ext cx="1965960" cy="1577339"/>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9" name="Shape 7"/>
          <p:cNvSpPr/>
          <p:nvPr/>
        </p:nvSpPr>
        <p:spPr>
          <a:xfrm>
            <a:off x="1056132" y="3339518"/>
            <a:ext cx="640080" cy="640080"/>
          </a:xfrm>
          <a:prstGeom prst="ellipse">
            <a:avLst/>
          </a:prstGeom>
          <a:solidFill>
            <a:srgbClr val="0A7C6E"/>
          </a:solidFill>
          <a:ln w="12700">
            <a:solidFill>
              <a:srgbClr val="0A7C6E"/>
            </a:solidFill>
            <a:prstDash val="solid"/>
          </a:ln>
        </p:spPr>
      </p:sp>
      <p:pic>
        <p:nvPicPr>
          <p:cNvPr id="10" name="Image 0" descr="preencoded.png"/>
          <p:cNvPicPr>
            <a:picLocks noChangeAspect="1"/>
          </p:cNvPicPr>
          <p:nvPr/>
        </p:nvPicPr>
        <p:blipFill>
          <a:blip r:embed="rId3"/>
          <a:stretch>
            <a:fillRect/>
          </a:stretch>
        </p:blipFill>
        <p:spPr>
          <a:xfrm>
            <a:off x="1193292" y="3476678"/>
            <a:ext cx="365760" cy="365760"/>
          </a:xfrm>
          <a:prstGeom prst="rect">
            <a:avLst/>
          </a:prstGeom>
        </p:spPr>
      </p:pic>
      <p:sp>
        <p:nvSpPr>
          <p:cNvPr id="11" name="Text 8"/>
          <p:cNvSpPr/>
          <p:nvPr/>
        </p:nvSpPr>
        <p:spPr>
          <a:xfrm>
            <a:off x="497042" y="3913632"/>
            <a:ext cx="1783080" cy="347472"/>
          </a:xfrm>
          <a:prstGeom prst="rect">
            <a:avLst/>
          </a:prstGeom>
          <a:noFill/>
          <a:ln/>
        </p:spPr>
        <p:txBody>
          <a:bodyPr wrap="square" lIns="0" tIns="0" rIns="0" bIns="0" rtlCol="0" anchor="ctr"/>
          <a:lstStyle/>
          <a:p>
            <a:pPr marL="0" indent="0" algn="ctr">
              <a:buNone/>
            </a:pPr>
            <a:r>
              <a:rPr lang="en-US" sz="1500" b="1" dirty="0">
                <a:solidFill>
                  <a:srgbClr val="0A7C6E"/>
                </a:solidFill>
                <a:latin typeface="Trebuchet MS" pitchFamily="34" charset="0"/>
                <a:ea typeface="Trebuchet MS" pitchFamily="34" charset="-122"/>
                <a:cs typeface="Trebuchet MS" pitchFamily="34" charset="-120"/>
              </a:rPr>
              <a:t>Predict</a:t>
            </a:r>
            <a:endParaRPr lang="en-US" sz="1500" dirty="0"/>
          </a:p>
        </p:txBody>
      </p:sp>
      <p:sp>
        <p:nvSpPr>
          <p:cNvPr id="12" name="Text 9"/>
          <p:cNvSpPr/>
          <p:nvPr/>
        </p:nvSpPr>
        <p:spPr>
          <a:xfrm>
            <a:off x="519902" y="4256532"/>
            <a:ext cx="1737360" cy="491163"/>
          </a:xfrm>
          <a:prstGeom prst="rect">
            <a:avLst/>
          </a:prstGeom>
          <a:noFill/>
          <a:ln/>
        </p:spPr>
        <p:txBody>
          <a:bodyPr wrap="square" lIns="0" tIns="0" rIns="0" bIns="0" rtlCol="0" anchor="ctr"/>
          <a:lstStyle/>
          <a:p>
            <a:pPr marL="0" indent="0" algn="ctr">
              <a:buNone/>
            </a:pPr>
            <a:r>
              <a:rPr lang="en-US" sz="950" dirty="0">
                <a:solidFill>
                  <a:srgbClr val="64748B"/>
                </a:solidFill>
                <a:latin typeface="Trebuchet MS" pitchFamily="34" charset="0"/>
                <a:ea typeface="Trebuchet MS" pitchFamily="34" charset="-122"/>
                <a:cs typeface="Trebuchet MS" pitchFamily="34" charset="-120"/>
              </a:rPr>
              <a:t>Forecast hourly energy usage for the next 24–48 hours with confidence intervals</a:t>
            </a:r>
            <a:endParaRPr lang="en-US" sz="950" dirty="0"/>
          </a:p>
        </p:txBody>
      </p:sp>
      <p:sp>
        <p:nvSpPr>
          <p:cNvPr id="13" name="Shape 10"/>
          <p:cNvSpPr/>
          <p:nvPr/>
        </p:nvSpPr>
        <p:spPr>
          <a:xfrm>
            <a:off x="2514600" y="3177542"/>
            <a:ext cx="1965960" cy="157733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5" name="Text 12"/>
          <p:cNvSpPr/>
          <p:nvPr/>
        </p:nvSpPr>
        <p:spPr>
          <a:xfrm>
            <a:off x="3172968" y="1629592"/>
            <a:ext cx="340941" cy="336367"/>
          </a:xfrm>
          <a:prstGeom prst="rect">
            <a:avLst/>
          </a:prstGeom>
          <a:noFill/>
          <a:ln/>
        </p:spPr>
        <p:txBody>
          <a:bodyPr wrap="square" lIns="0" tIns="0" rIns="0" bIns="0" rtlCol="0" anchor="ctr"/>
          <a:lstStyle/>
          <a:p>
            <a:pPr marL="0" indent="0" algn="ctr">
              <a:buNone/>
            </a:pPr>
            <a:r>
              <a:rPr lang="en-US" sz="1400" b="1" dirty="0">
                <a:solidFill>
                  <a:srgbClr val="FFFFFF"/>
                </a:solidFill>
              </a:rPr>
              <a:t>02</a:t>
            </a:r>
            <a:endParaRPr lang="en-US" sz="1400" dirty="0"/>
          </a:p>
        </p:txBody>
      </p:sp>
      <p:sp>
        <p:nvSpPr>
          <p:cNvPr id="16" name="Shape 13"/>
          <p:cNvSpPr/>
          <p:nvPr/>
        </p:nvSpPr>
        <p:spPr>
          <a:xfrm>
            <a:off x="3182111" y="3339518"/>
            <a:ext cx="645305" cy="615261"/>
          </a:xfrm>
          <a:prstGeom prst="ellipse">
            <a:avLst/>
          </a:prstGeom>
          <a:solidFill>
            <a:srgbClr val="0A7C6E"/>
          </a:solidFill>
          <a:ln w="12700">
            <a:solidFill>
              <a:srgbClr val="0A7C6E"/>
            </a:solidFill>
            <a:prstDash val="solid"/>
          </a:ln>
        </p:spPr>
      </p:sp>
      <p:pic>
        <p:nvPicPr>
          <p:cNvPr id="17" name="Image 1" descr="preencoded.png"/>
          <p:cNvPicPr>
            <a:picLocks noChangeAspect="1"/>
          </p:cNvPicPr>
          <p:nvPr/>
        </p:nvPicPr>
        <p:blipFill>
          <a:blip r:embed="rId4"/>
          <a:stretch>
            <a:fillRect/>
          </a:stretch>
        </p:blipFill>
        <p:spPr>
          <a:xfrm>
            <a:off x="3340171" y="3476678"/>
            <a:ext cx="329184" cy="329184"/>
          </a:xfrm>
          <a:prstGeom prst="rect">
            <a:avLst/>
          </a:prstGeom>
        </p:spPr>
      </p:pic>
      <p:sp>
        <p:nvSpPr>
          <p:cNvPr id="18" name="Text 14"/>
          <p:cNvSpPr/>
          <p:nvPr/>
        </p:nvSpPr>
        <p:spPr>
          <a:xfrm>
            <a:off x="2606040" y="3909060"/>
            <a:ext cx="1783080" cy="347472"/>
          </a:xfrm>
          <a:prstGeom prst="rect">
            <a:avLst/>
          </a:prstGeom>
          <a:noFill/>
          <a:ln/>
        </p:spPr>
        <p:txBody>
          <a:bodyPr wrap="square" lIns="0" tIns="0" rIns="0" bIns="0" rtlCol="0" anchor="ctr"/>
          <a:lstStyle/>
          <a:p>
            <a:pPr marL="0" indent="0" algn="ctr">
              <a:buNone/>
            </a:pPr>
            <a:r>
              <a:rPr lang="en-US" sz="1500" b="1" dirty="0">
                <a:solidFill>
                  <a:srgbClr val="0A7C6E"/>
                </a:solidFill>
                <a:latin typeface="Trebuchet MS" pitchFamily="34" charset="0"/>
                <a:ea typeface="Trebuchet MS" pitchFamily="34" charset="-122"/>
                <a:cs typeface="Trebuchet MS" pitchFamily="34" charset="-120"/>
              </a:rPr>
              <a:t>Detect</a:t>
            </a:r>
            <a:endParaRPr lang="en-US" sz="1500" dirty="0"/>
          </a:p>
        </p:txBody>
      </p:sp>
      <p:sp>
        <p:nvSpPr>
          <p:cNvPr id="19" name="Text 15"/>
          <p:cNvSpPr/>
          <p:nvPr/>
        </p:nvSpPr>
        <p:spPr>
          <a:xfrm>
            <a:off x="2628900" y="4256532"/>
            <a:ext cx="1737360" cy="434340"/>
          </a:xfrm>
          <a:prstGeom prst="rect">
            <a:avLst/>
          </a:prstGeom>
          <a:noFill/>
          <a:ln/>
        </p:spPr>
        <p:txBody>
          <a:bodyPr wrap="square" lIns="0" tIns="0" rIns="0" bIns="0" rtlCol="0" anchor="ctr"/>
          <a:lstStyle/>
          <a:p>
            <a:pPr marL="0" indent="0" algn="ctr">
              <a:buNone/>
            </a:pPr>
            <a:r>
              <a:rPr lang="en-US" sz="950" dirty="0">
                <a:solidFill>
                  <a:srgbClr val="64748B"/>
                </a:solidFill>
                <a:latin typeface="Trebuchet MS" pitchFamily="34" charset="0"/>
                <a:ea typeface="Trebuchet MS" pitchFamily="34" charset="-122"/>
                <a:cs typeface="Trebuchet MS" pitchFamily="34" charset="-120"/>
              </a:rPr>
              <a:t>Flag abnormal consumption spikes using statistical + ML dual-gate logic</a:t>
            </a:r>
            <a:endParaRPr lang="en-US" sz="950" dirty="0"/>
          </a:p>
        </p:txBody>
      </p:sp>
      <p:sp>
        <p:nvSpPr>
          <p:cNvPr id="20" name="Shape 16"/>
          <p:cNvSpPr/>
          <p:nvPr/>
        </p:nvSpPr>
        <p:spPr>
          <a:xfrm>
            <a:off x="4663440" y="3177540"/>
            <a:ext cx="1965960" cy="1577339"/>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txBody>
          <a:bodyPr/>
          <a:lstStyle/>
          <a:p>
            <a:endParaRPr lang="en-IN" dirty="0"/>
          </a:p>
        </p:txBody>
      </p:sp>
      <p:sp>
        <p:nvSpPr>
          <p:cNvPr id="23" name="Shape 19"/>
          <p:cNvSpPr/>
          <p:nvPr/>
        </p:nvSpPr>
        <p:spPr>
          <a:xfrm>
            <a:off x="5310705" y="3260489"/>
            <a:ext cx="640080" cy="640080"/>
          </a:xfrm>
          <a:prstGeom prst="ellipse">
            <a:avLst/>
          </a:prstGeom>
          <a:solidFill>
            <a:srgbClr val="0A7C6E"/>
          </a:solidFill>
          <a:ln w="12700">
            <a:solidFill>
              <a:srgbClr val="0A7C6E"/>
            </a:solidFill>
            <a:prstDash val="solid"/>
          </a:ln>
        </p:spPr>
      </p:sp>
      <p:pic>
        <p:nvPicPr>
          <p:cNvPr id="24" name="Image 2" descr="preencoded.png"/>
          <p:cNvPicPr>
            <a:picLocks noChangeAspect="1"/>
          </p:cNvPicPr>
          <p:nvPr/>
        </p:nvPicPr>
        <p:blipFill>
          <a:blip r:embed="rId5"/>
          <a:stretch>
            <a:fillRect/>
          </a:stretch>
        </p:blipFill>
        <p:spPr>
          <a:xfrm>
            <a:off x="5447865" y="3397649"/>
            <a:ext cx="365760" cy="365760"/>
          </a:xfrm>
          <a:prstGeom prst="rect">
            <a:avLst/>
          </a:prstGeom>
        </p:spPr>
      </p:pic>
      <p:sp>
        <p:nvSpPr>
          <p:cNvPr id="25" name="Text 20"/>
          <p:cNvSpPr/>
          <p:nvPr/>
        </p:nvSpPr>
        <p:spPr>
          <a:xfrm>
            <a:off x="4749002" y="3913632"/>
            <a:ext cx="1783080" cy="347472"/>
          </a:xfrm>
          <a:prstGeom prst="rect">
            <a:avLst/>
          </a:prstGeom>
          <a:noFill/>
          <a:ln/>
        </p:spPr>
        <p:txBody>
          <a:bodyPr wrap="square" lIns="0" tIns="0" rIns="0" bIns="0" rtlCol="0" anchor="ctr"/>
          <a:lstStyle/>
          <a:p>
            <a:pPr marL="0" indent="0" algn="ctr">
              <a:buNone/>
            </a:pPr>
            <a:r>
              <a:rPr lang="en-US" sz="1500" b="1" dirty="0">
                <a:solidFill>
                  <a:srgbClr val="0A7C6E"/>
                </a:solidFill>
                <a:latin typeface="Trebuchet MS" pitchFamily="34" charset="0"/>
                <a:ea typeface="Trebuchet MS" pitchFamily="34" charset="-122"/>
                <a:cs typeface="Trebuchet MS" pitchFamily="34" charset="-120"/>
              </a:rPr>
              <a:t>Optimize</a:t>
            </a:r>
            <a:endParaRPr lang="en-US" sz="1500" dirty="0"/>
          </a:p>
        </p:txBody>
      </p:sp>
      <p:sp>
        <p:nvSpPr>
          <p:cNvPr id="26" name="Text 21"/>
          <p:cNvSpPr/>
          <p:nvPr/>
        </p:nvSpPr>
        <p:spPr>
          <a:xfrm>
            <a:off x="4760105" y="4274167"/>
            <a:ext cx="1783080" cy="434340"/>
          </a:xfrm>
          <a:prstGeom prst="rect">
            <a:avLst/>
          </a:prstGeom>
          <a:noFill/>
          <a:ln/>
        </p:spPr>
        <p:txBody>
          <a:bodyPr wrap="square" lIns="0" tIns="0" rIns="0" bIns="0" rtlCol="0" anchor="ctr"/>
          <a:lstStyle/>
          <a:p>
            <a:pPr marL="0" indent="0" algn="ctr">
              <a:buNone/>
            </a:pPr>
            <a:r>
              <a:rPr lang="en-US" sz="950" dirty="0">
                <a:solidFill>
                  <a:srgbClr val="64748B"/>
                </a:solidFill>
                <a:latin typeface="Trebuchet MS" pitchFamily="34" charset="0"/>
                <a:ea typeface="Trebuchet MS" pitchFamily="34" charset="-122"/>
                <a:cs typeface="Trebuchet MS" pitchFamily="34" charset="-120"/>
              </a:rPr>
              <a:t>Compute least-cost load schedule using Linear Programming against TOU tariffs</a:t>
            </a:r>
            <a:endParaRPr lang="en-US" sz="950" dirty="0"/>
          </a:p>
        </p:txBody>
      </p:sp>
      <p:sp>
        <p:nvSpPr>
          <p:cNvPr id="27" name="Shape 22"/>
          <p:cNvSpPr/>
          <p:nvPr/>
        </p:nvSpPr>
        <p:spPr>
          <a:xfrm>
            <a:off x="6812280" y="3177540"/>
            <a:ext cx="1965960" cy="15773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9" name="Text 24"/>
          <p:cNvSpPr/>
          <p:nvPr/>
        </p:nvSpPr>
        <p:spPr>
          <a:xfrm>
            <a:off x="7470648" y="1325880"/>
            <a:ext cx="640080" cy="640080"/>
          </a:xfrm>
          <a:prstGeom prst="rect">
            <a:avLst/>
          </a:prstGeom>
          <a:noFill/>
          <a:ln/>
        </p:spPr>
        <p:txBody>
          <a:bodyPr wrap="square" lIns="0" tIns="0" rIns="0" bIns="0" rtlCol="0" anchor="ctr"/>
          <a:lstStyle/>
          <a:p>
            <a:pPr marL="0" indent="0" algn="ctr">
              <a:buNone/>
            </a:pPr>
            <a:r>
              <a:rPr lang="en-US" sz="1400" b="1" dirty="0">
                <a:solidFill>
                  <a:srgbClr val="FFFFFF"/>
                </a:solidFill>
              </a:rPr>
              <a:t>04</a:t>
            </a:r>
            <a:endParaRPr lang="en-US" sz="1400" dirty="0"/>
          </a:p>
        </p:txBody>
      </p:sp>
      <p:sp>
        <p:nvSpPr>
          <p:cNvPr id="30" name="Shape 25"/>
          <p:cNvSpPr/>
          <p:nvPr/>
        </p:nvSpPr>
        <p:spPr>
          <a:xfrm>
            <a:off x="7459545" y="3260489"/>
            <a:ext cx="640080" cy="640080"/>
          </a:xfrm>
          <a:prstGeom prst="ellipse">
            <a:avLst/>
          </a:prstGeom>
          <a:solidFill>
            <a:srgbClr val="0A7C6E"/>
          </a:solidFill>
          <a:ln w="12700">
            <a:solidFill>
              <a:srgbClr val="0A7C6E"/>
            </a:solidFill>
            <a:prstDash val="solid"/>
          </a:ln>
        </p:spPr>
      </p:sp>
      <p:pic>
        <p:nvPicPr>
          <p:cNvPr id="31" name="Image 3" descr="preencoded.png"/>
          <p:cNvPicPr>
            <a:picLocks noChangeAspect="1"/>
          </p:cNvPicPr>
          <p:nvPr/>
        </p:nvPicPr>
        <p:blipFill>
          <a:blip r:embed="rId6"/>
          <a:stretch>
            <a:fillRect/>
          </a:stretch>
        </p:blipFill>
        <p:spPr>
          <a:xfrm>
            <a:off x="7596705" y="3397649"/>
            <a:ext cx="365760" cy="365760"/>
          </a:xfrm>
          <a:prstGeom prst="rect">
            <a:avLst/>
          </a:prstGeom>
        </p:spPr>
      </p:pic>
      <p:sp>
        <p:nvSpPr>
          <p:cNvPr id="32" name="Text 26"/>
          <p:cNvSpPr/>
          <p:nvPr/>
        </p:nvSpPr>
        <p:spPr>
          <a:xfrm>
            <a:off x="6888045" y="3913632"/>
            <a:ext cx="1783080" cy="347472"/>
          </a:xfrm>
          <a:prstGeom prst="rect">
            <a:avLst/>
          </a:prstGeom>
          <a:noFill/>
          <a:ln/>
        </p:spPr>
        <p:txBody>
          <a:bodyPr wrap="square" lIns="0" tIns="0" rIns="0" bIns="0" rtlCol="0" anchor="ctr"/>
          <a:lstStyle/>
          <a:p>
            <a:pPr marL="0" indent="0" algn="ctr">
              <a:buNone/>
            </a:pPr>
            <a:r>
              <a:rPr lang="en-US" sz="1500" b="1" dirty="0">
                <a:solidFill>
                  <a:srgbClr val="0A7C6E"/>
                </a:solidFill>
                <a:latin typeface="Trebuchet MS" pitchFamily="34" charset="0"/>
                <a:ea typeface="Trebuchet MS" pitchFamily="34" charset="-122"/>
                <a:cs typeface="Trebuchet MS" pitchFamily="34" charset="-120"/>
              </a:rPr>
              <a:t>Visualize</a:t>
            </a:r>
            <a:endParaRPr lang="en-US" sz="1500" dirty="0"/>
          </a:p>
        </p:txBody>
      </p:sp>
      <p:sp>
        <p:nvSpPr>
          <p:cNvPr id="33" name="Text 27"/>
          <p:cNvSpPr/>
          <p:nvPr/>
        </p:nvSpPr>
        <p:spPr>
          <a:xfrm>
            <a:off x="7063740" y="4261104"/>
            <a:ext cx="1549255" cy="434340"/>
          </a:xfrm>
          <a:prstGeom prst="rect">
            <a:avLst/>
          </a:prstGeom>
          <a:noFill/>
          <a:ln/>
        </p:spPr>
        <p:txBody>
          <a:bodyPr wrap="square" lIns="0" tIns="0" rIns="0" bIns="0" rtlCol="0" anchor="ctr"/>
          <a:lstStyle/>
          <a:p>
            <a:pPr marL="0" indent="0" algn="ctr">
              <a:buNone/>
            </a:pPr>
            <a:r>
              <a:rPr lang="en-US" sz="950" dirty="0">
                <a:solidFill>
                  <a:srgbClr val="64748B"/>
                </a:solidFill>
                <a:latin typeface="Trebuchet MS" pitchFamily="34" charset="0"/>
                <a:ea typeface="Trebuchet MS" pitchFamily="34" charset="-122"/>
                <a:cs typeface="Trebuchet MS" pitchFamily="34" charset="-120"/>
              </a:rPr>
              <a:t>Deliver actionable insights through an interactive React dashboard</a:t>
            </a:r>
            <a:endParaRPr lang="en-US" sz="950" dirty="0"/>
          </a:p>
        </p:txBody>
      </p:sp>
      <p:sp>
        <p:nvSpPr>
          <p:cNvPr id="35" name="TextBox 34">
            <a:extLst>
              <a:ext uri="{FF2B5EF4-FFF2-40B4-BE49-F238E27FC236}">
                <a16:creationId xmlns:a16="http://schemas.microsoft.com/office/drawing/2014/main" id="{1C10A0E2-6AA9-A93B-EA2C-4E14EC3565B3}"/>
              </a:ext>
            </a:extLst>
          </p:cNvPr>
          <p:cNvSpPr txBox="1"/>
          <p:nvPr/>
        </p:nvSpPr>
        <p:spPr>
          <a:xfrm>
            <a:off x="288689" y="1209193"/>
            <a:ext cx="8566622" cy="1569660"/>
          </a:xfrm>
          <a:prstGeom prst="rect">
            <a:avLst/>
          </a:prstGeom>
          <a:noFill/>
        </p:spPr>
        <p:txBody>
          <a:bodyPr wrap="square">
            <a:spAutoFit/>
          </a:bodyPr>
          <a:lstStyle/>
          <a:p>
            <a:r>
              <a:rPr lang="en-US" sz="1600" dirty="0"/>
              <a:t>The primary objective of this project is to develop an intelligent system that can predict future electricity consumption and enable proactive decision-making. It aims to detect anomalies in usage patterns to ensure early identification of irregular behavior. Another key objective is to optimize energy consumption by redistributing load across time to minimize cost. Finally, the system seeks to present all insights through a clear and interactive dashboard, making complex analytics accessible and actionable for users.</a:t>
            </a:r>
            <a:endParaRPr lang="en-IN"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254726" y="82298"/>
            <a:ext cx="2050868" cy="420620"/>
          </a:xfrm>
          <a:prstGeom prst="roundRect">
            <a:avLst>
              <a:gd name="adj" fmla="val 21429"/>
            </a:avLst>
          </a:prstGeom>
          <a:solidFill>
            <a:srgbClr val="0A7C6E"/>
          </a:solidFill>
          <a:ln w="12700">
            <a:solidFill>
              <a:srgbClr val="0A7C6E"/>
            </a:solidFill>
            <a:prstDash val="solid"/>
          </a:ln>
        </p:spPr>
      </p:sp>
      <p:sp>
        <p:nvSpPr>
          <p:cNvPr id="3" name="Text 1"/>
          <p:cNvSpPr/>
          <p:nvPr/>
        </p:nvSpPr>
        <p:spPr>
          <a:xfrm>
            <a:off x="254726" y="82297"/>
            <a:ext cx="2050868" cy="420621"/>
          </a:xfrm>
          <a:prstGeom prst="rect">
            <a:avLst/>
          </a:prstGeom>
          <a:noFill/>
          <a:ln/>
        </p:spPr>
        <p:txBody>
          <a:bodyPr wrap="square" lIns="0" tIns="0" rIns="0" bIns="0" rtlCol="0" anchor="ctr"/>
          <a:lstStyle/>
          <a:p>
            <a:pPr marL="0" indent="0" algn="ctr">
              <a:buNone/>
            </a:pPr>
            <a:r>
              <a:rPr lang="en-US" sz="1100" b="1" kern="0" spc="200" dirty="0">
                <a:solidFill>
                  <a:srgbClr val="FFFFFF"/>
                </a:solidFill>
              </a:rPr>
              <a:t>PROPOSED</a:t>
            </a:r>
            <a:r>
              <a:rPr lang="en-US" sz="800" b="1" kern="0" spc="200" dirty="0">
                <a:solidFill>
                  <a:srgbClr val="FFFFFF"/>
                </a:solidFill>
              </a:rPr>
              <a:t> </a:t>
            </a:r>
            <a:r>
              <a:rPr lang="en-US" sz="1100" b="1" kern="0" spc="200" dirty="0">
                <a:solidFill>
                  <a:srgbClr val="FFFFFF"/>
                </a:solidFill>
              </a:rPr>
              <a:t>SOLUTION</a:t>
            </a:r>
            <a:endParaRPr lang="en-US" sz="1100" dirty="0"/>
          </a:p>
        </p:txBody>
      </p:sp>
      <p:sp>
        <p:nvSpPr>
          <p:cNvPr id="4" name="Text 2"/>
          <p:cNvSpPr/>
          <p:nvPr/>
        </p:nvSpPr>
        <p:spPr>
          <a:xfrm>
            <a:off x="365760" y="502920"/>
            <a:ext cx="8412480" cy="475488"/>
          </a:xfrm>
          <a:prstGeom prst="rect">
            <a:avLst/>
          </a:prstGeom>
          <a:noFill/>
          <a:ln/>
        </p:spPr>
        <p:txBody>
          <a:bodyPr wrap="square" lIns="0" tIns="0" rIns="0" bIns="0" rtlCol="0" anchor="ctr"/>
          <a:lstStyle/>
          <a:p>
            <a:pPr marL="0" indent="0">
              <a:buNone/>
            </a:pPr>
            <a:r>
              <a:rPr lang="en-US" sz="2600" b="1" dirty="0">
                <a:solidFill>
                  <a:srgbClr val="0D1B2A"/>
                </a:solidFill>
                <a:latin typeface="Trebuchet MS" pitchFamily="34" charset="0"/>
                <a:ea typeface="Trebuchet MS" pitchFamily="34" charset="-122"/>
                <a:cs typeface="Trebuchet MS" pitchFamily="34" charset="-120"/>
              </a:rPr>
              <a:t>End-to-End Intelligent Energy Management System</a:t>
            </a:r>
            <a:endParaRPr lang="en-US" sz="2600" dirty="0"/>
          </a:p>
        </p:txBody>
      </p:sp>
      <p:sp>
        <p:nvSpPr>
          <p:cNvPr id="5" name="Shape 3"/>
          <p:cNvSpPr/>
          <p:nvPr/>
        </p:nvSpPr>
        <p:spPr>
          <a:xfrm>
            <a:off x="365760" y="1024128"/>
            <a:ext cx="8412480" cy="0"/>
          </a:xfrm>
          <a:prstGeom prst="line">
            <a:avLst/>
          </a:prstGeom>
          <a:noFill/>
          <a:ln w="12700">
            <a:solidFill>
              <a:srgbClr val="E2E8F0"/>
            </a:solidFill>
            <a:prstDash val="solid"/>
          </a:ln>
        </p:spPr>
      </p:sp>
      <p:sp>
        <p:nvSpPr>
          <p:cNvPr id="6" name="Shape 4"/>
          <p:cNvSpPr/>
          <p:nvPr/>
        </p:nvSpPr>
        <p:spPr>
          <a:xfrm>
            <a:off x="365759" y="3010989"/>
            <a:ext cx="8634549" cy="169817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7" name="Text 5"/>
          <p:cNvSpPr/>
          <p:nvPr/>
        </p:nvSpPr>
        <p:spPr>
          <a:xfrm>
            <a:off x="594360" y="3246120"/>
            <a:ext cx="8183880" cy="1280159"/>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334155"/>
                </a:solidFill>
                <a:latin typeface="Trebuchet MS" pitchFamily="34" charset="0"/>
                <a:ea typeface="Trebuchet MS" pitchFamily="34" charset="-122"/>
                <a:cs typeface="Trebuchet MS" pitchFamily="34" charset="-120"/>
              </a:rPr>
              <a:t>Raw smart meter data → ML inference pipeline</a:t>
            </a:r>
            <a:endParaRPr lang="en-US" sz="1200" dirty="0"/>
          </a:p>
          <a:p>
            <a:pPr marL="342900" indent="-342900">
              <a:spcAft>
                <a:spcPts val="1000"/>
              </a:spcAft>
              <a:buSzPct val="100000"/>
              <a:buChar char="•"/>
            </a:pPr>
            <a:r>
              <a:rPr lang="en-US" sz="1200" dirty="0">
                <a:solidFill>
                  <a:srgbClr val="334155"/>
                </a:solidFill>
                <a:latin typeface="Trebuchet MS" pitchFamily="34" charset="0"/>
                <a:ea typeface="Trebuchet MS" pitchFamily="34" charset="-122"/>
                <a:cs typeface="Trebuchet MS" pitchFamily="34" charset="-120"/>
              </a:rPr>
              <a:t>No IoT-level appliance data required — works on aggregate load</a:t>
            </a:r>
            <a:endParaRPr lang="en-US" sz="1200" dirty="0"/>
          </a:p>
          <a:p>
            <a:pPr marL="342900" indent="-342900">
              <a:spcAft>
                <a:spcPts val="1000"/>
              </a:spcAft>
              <a:buSzPct val="100000"/>
              <a:buChar char="•"/>
            </a:pPr>
            <a:r>
              <a:rPr lang="en-US" sz="1200" dirty="0">
                <a:solidFill>
                  <a:srgbClr val="334155"/>
                </a:solidFill>
                <a:latin typeface="Trebuchet MS" pitchFamily="34" charset="0"/>
                <a:ea typeface="Trebuchet MS" pitchFamily="34" charset="-122"/>
                <a:cs typeface="Trebuchet MS" pitchFamily="34" charset="-120"/>
              </a:rPr>
              <a:t>Walk-forward validated models prevent data leakage</a:t>
            </a:r>
            <a:endParaRPr lang="en-US" sz="1200" dirty="0"/>
          </a:p>
          <a:p>
            <a:pPr marL="342900" indent="-342900">
              <a:spcAft>
                <a:spcPts val="1000"/>
              </a:spcAft>
              <a:buSzPct val="100000"/>
              <a:buChar char="•"/>
            </a:pPr>
            <a:r>
              <a:rPr lang="en-US" sz="1200" dirty="0">
                <a:solidFill>
                  <a:srgbClr val="334155"/>
                </a:solidFill>
                <a:latin typeface="Trebuchet MS" pitchFamily="34" charset="0"/>
                <a:ea typeface="Trebuchet MS" pitchFamily="34" charset="-122"/>
                <a:cs typeface="Trebuchet MS" pitchFamily="34" charset="-120"/>
              </a:rPr>
              <a:t>LP optimizer computes savings in &lt;1 ms on local CPU</a:t>
            </a:r>
            <a:endParaRPr lang="en-US" sz="1200" dirty="0"/>
          </a:p>
          <a:p>
            <a:pPr marL="342900" indent="-342900">
              <a:spcAft>
                <a:spcPts val="1000"/>
              </a:spcAft>
              <a:buSzPct val="100000"/>
              <a:buChar char="•"/>
            </a:pPr>
            <a:r>
              <a:rPr lang="en-US" sz="1200" dirty="0">
                <a:solidFill>
                  <a:srgbClr val="334155"/>
                </a:solidFill>
                <a:latin typeface="Trebuchet MS" pitchFamily="34" charset="0"/>
                <a:ea typeface="Trebuchet MS" pitchFamily="34" charset="-122"/>
                <a:cs typeface="Trebuchet MS" pitchFamily="34" charset="-120"/>
              </a:rPr>
              <a:t>Single API call returns forecast + anomaly + optimized schedule</a:t>
            </a:r>
            <a:endParaRPr lang="en-US" sz="1200" dirty="0"/>
          </a:p>
        </p:txBody>
      </p:sp>
      <p:sp>
        <p:nvSpPr>
          <p:cNvPr id="27" name="TextBox 26">
            <a:extLst>
              <a:ext uri="{FF2B5EF4-FFF2-40B4-BE49-F238E27FC236}">
                <a16:creationId xmlns:a16="http://schemas.microsoft.com/office/drawing/2014/main" id="{B76B303C-A1D5-19E2-7EF5-1C20544A67E0}"/>
              </a:ext>
            </a:extLst>
          </p:cNvPr>
          <p:cNvSpPr txBox="1"/>
          <p:nvPr/>
        </p:nvSpPr>
        <p:spPr>
          <a:xfrm>
            <a:off x="313508" y="1063897"/>
            <a:ext cx="8634549" cy="1815882"/>
          </a:xfrm>
          <a:prstGeom prst="rect">
            <a:avLst/>
          </a:prstGeom>
          <a:noFill/>
        </p:spPr>
        <p:txBody>
          <a:bodyPr wrap="square">
            <a:spAutoFit/>
          </a:bodyPr>
          <a:lstStyle/>
          <a:p>
            <a:r>
              <a:rPr lang="en-US" sz="1600" dirty="0"/>
              <a:t>The proposed solution is an end-to-end decision-support system that integrates forecasting, anomaly detection, and optimization into a single pipeline. The system accepts a current consumption input and uses historical patterns to predict future usage over a defined horizon. It then evaluates whether the current or predicted behavior is abnormal using a hybrid detection approach. Based on the predicted future load, an optimization engine redistributes energy usage across time periods to minimize cost under varying tariff conditions. The results are presented through a visual dashboard, allowing users to understand not just what will happen, but what actions should be taken.</a:t>
            </a:r>
            <a:endParaRPr lang="en-IN"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45720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System Architecture</a:t>
            </a:r>
            <a:endParaRPr lang="en-US" sz="2600" dirty="0"/>
          </a:p>
        </p:txBody>
      </p:sp>
      <p:sp>
        <p:nvSpPr>
          <p:cNvPr id="3" name="Shape 1"/>
          <p:cNvSpPr/>
          <p:nvPr/>
        </p:nvSpPr>
        <p:spPr>
          <a:xfrm>
            <a:off x="365760" y="667512"/>
            <a:ext cx="8412480" cy="0"/>
          </a:xfrm>
          <a:prstGeom prst="line">
            <a:avLst/>
          </a:prstGeom>
          <a:noFill/>
          <a:ln w="25400">
            <a:solidFill>
              <a:srgbClr val="0A7C6E"/>
            </a:solidFill>
            <a:prstDash val="solid"/>
          </a:ln>
        </p:spPr>
      </p:sp>
      <p:pic>
        <p:nvPicPr>
          <p:cNvPr id="39" name="Picture 38">
            <a:extLst>
              <a:ext uri="{FF2B5EF4-FFF2-40B4-BE49-F238E27FC236}">
                <a16:creationId xmlns:a16="http://schemas.microsoft.com/office/drawing/2014/main" id="{D12658EE-9E43-9112-7910-1C757EE56039}"/>
              </a:ext>
            </a:extLst>
          </p:cNvPr>
          <p:cNvPicPr>
            <a:picLocks noChangeAspect="1"/>
          </p:cNvPicPr>
          <p:nvPr/>
        </p:nvPicPr>
        <p:blipFill>
          <a:blip r:embed="rId3"/>
          <a:stretch>
            <a:fillRect/>
          </a:stretch>
        </p:blipFill>
        <p:spPr>
          <a:xfrm>
            <a:off x="1636503" y="830189"/>
            <a:ext cx="5868108" cy="39807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280851" y="128017"/>
            <a:ext cx="1998618" cy="329182"/>
          </a:xfrm>
          <a:prstGeom prst="roundRect">
            <a:avLst>
              <a:gd name="adj" fmla="val 21429"/>
            </a:avLst>
          </a:prstGeom>
          <a:solidFill>
            <a:srgbClr val="0A7C6E"/>
          </a:solidFill>
          <a:ln w="12700">
            <a:solidFill>
              <a:srgbClr val="0A7C6E"/>
            </a:solidFill>
            <a:prstDash val="solid"/>
          </a:ln>
        </p:spPr>
      </p:sp>
      <p:sp>
        <p:nvSpPr>
          <p:cNvPr id="3" name="Text 1"/>
          <p:cNvSpPr/>
          <p:nvPr/>
        </p:nvSpPr>
        <p:spPr>
          <a:xfrm>
            <a:off x="365760" y="164592"/>
            <a:ext cx="1828800" cy="256032"/>
          </a:xfrm>
          <a:prstGeom prst="rect">
            <a:avLst/>
          </a:prstGeom>
          <a:noFill/>
          <a:ln/>
        </p:spPr>
        <p:txBody>
          <a:bodyPr wrap="square" lIns="0" tIns="0" rIns="0" bIns="0" rtlCol="0" anchor="ctr"/>
          <a:lstStyle/>
          <a:p>
            <a:pPr marL="0" indent="0" algn="ctr">
              <a:buNone/>
            </a:pPr>
            <a:r>
              <a:rPr lang="en-US" sz="1100" b="1" kern="0" spc="200" dirty="0">
                <a:solidFill>
                  <a:srgbClr val="FFFFFF"/>
                </a:solidFill>
              </a:rPr>
              <a:t>TECHNOLOGY</a:t>
            </a:r>
            <a:r>
              <a:rPr lang="en-US" sz="800" b="1" kern="0" spc="200" dirty="0">
                <a:solidFill>
                  <a:srgbClr val="FFFFFF"/>
                </a:solidFill>
              </a:rPr>
              <a:t> </a:t>
            </a:r>
            <a:r>
              <a:rPr lang="en-US" sz="1100" b="1" kern="0" spc="200" dirty="0">
                <a:solidFill>
                  <a:srgbClr val="FFFFFF"/>
                </a:solidFill>
              </a:rPr>
              <a:t>STACK</a:t>
            </a:r>
            <a:endParaRPr lang="en-US" sz="1100" dirty="0"/>
          </a:p>
        </p:txBody>
      </p:sp>
      <p:sp>
        <p:nvSpPr>
          <p:cNvPr id="4" name="Text 2"/>
          <p:cNvSpPr/>
          <p:nvPr/>
        </p:nvSpPr>
        <p:spPr>
          <a:xfrm>
            <a:off x="365760" y="502920"/>
            <a:ext cx="8412480" cy="475488"/>
          </a:xfrm>
          <a:prstGeom prst="rect">
            <a:avLst/>
          </a:prstGeom>
          <a:noFill/>
          <a:ln/>
        </p:spPr>
        <p:txBody>
          <a:bodyPr wrap="square" lIns="0" tIns="0" rIns="0" bIns="0" rtlCol="0" anchor="ctr"/>
          <a:lstStyle/>
          <a:p>
            <a:pPr marL="0" indent="0">
              <a:buNone/>
            </a:pPr>
            <a:r>
              <a:rPr lang="en-US" sz="2600" b="1" dirty="0">
                <a:solidFill>
                  <a:srgbClr val="0D1B2A"/>
                </a:solidFill>
                <a:latin typeface="Trebuchet MS" pitchFamily="34" charset="0"/>
                <a:ea typeface="Trebuchet MS" pitchFamily="34" charset="-122"/>
                <a:cs typeface="Trebuchet MS" pitchFamily="34" charset="-120"/>
              </a:rPr>
              <a:t>Tools &amp; Libraries Used</a:t>
            </a:r>
            <a:endParaRPr lang="en-US" sz="2600" dirty="0"/>
          </a:p>
        </p:txBody>
      </p:sp>
      <p:sp>
        <p:nvSpPr>
          <p:cNvPr id="5" name="Shape 3"/>
          <p:cNvSpPr/>
          <p:nvPr/>
        </p:nvSpPr>
        <p:spPr>
          <a:xfrm>
            <a:off x="365760" y="1024128"/>
            <a:ext cx="8412480" cy="0"/>
          </a:xfrm>
          <a:prstGeom prst="line">
            <a:avLst/>
          </a:prstGeom>
          <a:noFill/>
          <a:ln w="12700">
            <a:solidFill>
              <a:srgbClr val="E2E8F0"/>
            </a:solidFill>
            <a:prstDash val="solid"/>
          </a:ln>
        </p:spPr>
      </p:sp>
      <p:sp>
        <p:nvSpPr>
          <p:cNvPr id="6" name="Shape 4"/>
          <p:cNvSpPr/>
          <p:nvPr/>
        </p:nvSpPr>
        <p:spPr>
          <a:xfrm>
            <a:off x="365760" y="1188720"/>
            <a:ext cx="420624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7" name="Shape 5"/>
          <p:cNvSpPr/>
          <p:nvPr/>
        </p:nvSpPr>
        <p:spPr>
          <a:xfrm>
            <a:off x="365760" y="1188720"/>
            <a:ext cx="4206240" cy="411480"/>
          </a:xfrm>
          <a:prstGeom prst="rect">
            <a:avLst/>
          </a:prstGeom>
          <a:solidFill>
            <a:srgbClr val="0EA5E9"/>
          </a:solidFill>
          <a:ln w="12700">
            <a:solidFill>
              <a:srgbClr val="0EA5E9"/>
            </a:solidFill>
            <a:prstDash val="solid"/>
          </a:ln>
        </p:spPr>
      </p:sp>
      <p:pic>
        <p:nvPicPr>
          <p:cNvPr id="8" name="Image 0" descr="preencoded.png"/>
          <p:cNvPicPr>
            <a:picLocks noChangeAspect="1"/>
          </p:cNvPicPr>
          <p:nvPr/>
        </p:nvPicPr>
        <p:blipFill>
          <a:blip r:embed="rId3"/>
          <a:stretch>
            <a:fillRect/>
          </a:stretch>
        </p:blipFill>
        <p:spPr>
          <a:xfrm>
            <a:off x="457200" y="1243584"/>
            <a:ext cx="292608" cy="292608"/>
          </a:xfrm>
          <a:prstGeom prst="rect">
            <a:avLst/>
          </a:prstGeom>
          <a:solidFill>
            <a:schemeClr val="tx1"/>
          </a:solidFill>
        </p:spPr>
      </p:pic>
      <p:sp>
        <p:nvSpPr>
          <p:cNvPr id="9" name="Text 6"/>
          <p:cNvSpPr/>
          <p:nvPr/>
        </p:nvSpPr>
        <p:spPr>
          <a:xfrm>
            <a:off x="841248" y="1252728"/>
            <a:ext cx="356616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Frontend</a:t>
            </a:r>
            <a:endParaRPr lang="en-US" sz="1200" dirty="0"/>
          </a:p>
        </p:txBody>
      </p:sp>
      <p:sp>
        <p:nvSpPr>
          <p:cNvPr id="10" name="Text 7"/>
          <p:cNvSpPr/>
          <p:nvPr/>
        </p:nvSpPr>
        <p:spPr>
          <a:xfrm>
            <a:off x="548640" y="1664208"/>
            <a:ext cx="3840480" cy="100584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React + Vite</a:t>
            </a:r>
            <a:endParaRPr lang="en-US" sz="1400" dirty="0"/>
          </a:p>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Recharts</a:t>
            </a:r>
            <a:endParaRPr lang="en-US" sz="1400" dirty="0"/>
          </a:p>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Pure CSS</a:t>
            </a:r>
            <a:endParaRPr lang="en-US" sz="1400" dirty="0"/>
          </a:p>
        </p:txBody>
      </p:sp>
      <p:sp>
        <p:nvSpPr>
          <p:cNvPr id="11" name="Shape 8"/>
          <p:cNvSpPr/>
          <p:nvPr/>
        </p:nvSpPr>
        <p:spPr>
          <a:xfrm>
            <a:off x="4709160" y="1188720"/>
            <a:ext cx="420624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2" name="Shape 9"/>
          <p:cNvSpPr/>
          <p:nvPr/>
        </p:nvSpPr>
        <p:spPr>
          <a:xfrm>
            <a:off x="4709160" y="1188720"/>
            <a:ext cx="4206240" cy="411480"/>
          </a:xfrm>
          <a:prstGeom prst="rect">
            <a:avLst/>
          </a:prstGeom>
          <a:solidFill>
            <a:srgbClr val="0A7C6E"/>
          </a:solidFill>
          <a:ln w="12700">
            <a:solidFill>
              <a:srgbClr val="0A7C6E"/>
            </a:solidFill>
            <a:prstDash val="solid"/>
          </a:ln>
        </p:spPr>
      </p:sp>
      <p:pic>
        <p:nvPicPr>
          <p:cNvPr id="13" name="Image 1" descr="preencoded.png"/>
          <p:cNvPicPr>
            <a:picLocks noChangeAspect="1"/>
          </p:cNvPicPr>
          <p:nvPr/>
        </p:nvPicPr>
        <p:blipFill>
          <a:blip r:embed="rId4"/>
          <a:stretch>
            <a:fillRect/>
          </a:stretch>
        </p:blipFill>
        <p:spPr>
          <a:xfrm>
            <a:off x="4800600" y="1243584"/>
            <a:ext cx="292608" cy="292608"/>
          </a:xfrm>
          <a:prstGeom prst="rect">
            <a:avLst/>
          </a:prstGeom>
          <a:solidFill>
            <a:schemeClr val="tx1"/>
          </a:solidFill>
        </p:spPr>
      </p:pic>
      <p:sp>
        <p:nvSpPr>
          <p:cNvPr id="14" name="Text 10"/>
          <p:cNvSpPr/>
          <p:nvPr/>
        </p:nvSpPr>
        <p:spPr>
          <a:xfrm>
            <a:off x="5184648" y="1252728"/>
            <a:ext cx="356616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Backend</a:t>
            </a:r>
            <a:endParaRPr lang="en-US" sz="1200" dirty="0"/>
          </a:p>
        </p:txBody>
      </p:sp>
      <p:sp>
        <p:nvSpPr>
          <p:cNvPr id="15" name="Text 11"/>
          <p:cNvSpPr/>
          <p:nvPr/>
        </p:nvSpPr>
        <p:spPr>
          <a:xfrm>
            <a:off x="4892040" y="1664208"/>
            <a:ext cx="3840480" cy="100584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FastAPI</a:t>
            </a:r>
            <a:endParaRPr lang="en-US" sz="1400" dirty="0"/>
          </a:p>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Pydantic</a:t>
            </a:r>
            <a:endParaRPr lang="en-US" sz="1400" dirty="0"/>
          </a:p>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Uvicorn</a:t>
            </a:r>
            <a:endParaRPr lang="en-US" sz="1400" dirty="0"/>
          </a:p>
        </p:txBody>
      </p:sp>
      <p:sp>
        <p:nvSpPr>
          <p:cNvPr id="16" name="Shape 12"/>
          <p:cNvSpPr/>
          <p:nvPr/>
        </p:nvSpPr>
        <p:spPr>
          <a:xfrm>
            <a:off x="365760" y="2926080"/>
            <a:ext cx="420624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7" name="Shape 13"/>
          <p:cNvSpPr/>
          <p:nvPr/>
        </p:nvSpPr>
        <p:spPr>
          <a:xfrm>
            <a:off x="365760" y="2926080"/>
            <a:ext cx="4206240" cy="411480"/>
          </a:xfrm>
          <a:prstGeom prst="rect">
            <a:avLst/>
          </a:prstGeom>
          <a:solidFill>
            <a:srgbClr val="0D1B2A"/>
          </a:solidFill>
          <a:ln w="12700">
            <a:solidFill>
              <a:srgbClr val="0D1B2A"/>
            </a:solidFill>
            <a:prstDash val="solid"/>
          </a:ln>
        </p:spPr>
      </p:sp>
      <p:pic>
        <p:nvPicPr>
          <p:cNvPr id="18" name="Image 2" descr="preencoded.png"/>
          <p:cNvPicPr>
            <a:picLocks noChangeAspect="1"/>
          </p:cNvPicPr>
          <p:nvPr/>
        </p:nvPicPr>
        <p:blipFill>
          <a:blip r:embed="rId5"/>
          <a:stretch>
            <a:fillRect/>
          </a:stretch>
        </p:blipFill>
        <p:spPr>
          <a:xfrm>
            <a:off x="457200" y="2980944"/>
            <a:ext cx="292608" cy="292608"/>
          </a:xfrm>
          <a:prstGeom prst="rect">
            <a:avLst/>
          </a:prstGeom>
        </p:spPr>
      </p:pic>
      <p:sp>
        <p:nvSpPr>
          <p:cNvPr id="19" name="Text 14"/>
          <p:cNvSpPr/>
          <p:nvPr/>
        </p:nvSpPr>
        <p:spPr>
          <a:xfrm>
            <a:off x="841248" y="2990088"/>
            <a:ext cx="356616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ML &amp; Data</a:t>
            </a:r>
            <a:endParaRPr lang="en-US" sz="1200" dirty="0"/>
          </a:p>
        </p:txBody>
      </p:sp>
      <p:sp>
        <p:nvSpPr>
          <p:cNvPr id="20" name="Text 15"/>
          <p:cNvSpPr/>
          <p:nvPr/>
        </p:nvSpPr>
        <p:spPr>
          <a:xfrm>
            <a:off x="548640" y="3401568"/>
            <a:ext cx="3840480" cy="100584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LightGBM</a:t>
            </a:r>
            <a:endParaRPr lang="en-US" sz="1400" dirty="0"/>
          </a:p>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Isolation Forest</a:t>
            </a:r>
            <a:endParaRPr lang="en-US" sz="1400" dirty="0"/>
          </a:p>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Pandas / NumPy</a:t>
            </a:r>
            <a:endParaRPr lang="en-US" sz="1400" dirty="0"/>
          </a:p>
        </p:txBody>
      </p:sp>
      <p:sp>
        <p:nvSpPr>
          <p:cNvPr id="21" name="Shape 16"/>
          <p:cNvSpPr/>
          <p:nvPr/>
        </p:nvSpPr>
        <p:spPr>
          <a:xfrm>
            <a:off x="4709160" y="2926080"/>
            <a:ext cx="4206240" cy="160020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2" name="Shape 17"/>
          <p:cNvSpPr/>
          <p:nvPr/>
        </p:nvSpPr>
        <p:spPr>
          <a:xfrm>
            <a:off x="4709160" y="2926080"/>
            <a:ext cx="4206240" cy="411480"/>
          </a:xfrm>
          <a:prstGeom prst="rect">
            <a:avLst/>
          </a:prstGeom>
          <a:solidFill>
            <a:srgbClr val="7C3AED"/>
          </a:solidFill>
          <a:ln w="12700">
            <a:solidFill>
              <a:srgbClr val="7C3AED"/>
            </a:solidFill>
            <a:prstDash val="solid"/>
          </a:ln>
        </p:spPr>
      </p:sp>
      <p:pic>
        <p:nvPicPr>
          <p:cNvPr id="23" name="Image 3" descr="preencoded.png"/>
          <p:cNvPicPr>
            <a:picLocks noChangeAspect="1"/>
          </p:cNvPicPr>
          <p:nvPr/>
        </p:nvPicPr>
        <p:blipFill>
          <a:blip r:embed="rId6"/>
          <a:stretch>
            <a:fillRect/>
          </a:stretch>
        </p:blipFill>
        <p:spPr>
          <a:xfrm>
            <a:off x="4800600" y="2980944"/>
            <a:ext cx="292608" cy="292608"/>
          </a:xfrm>
          <a:prstGeom prst="rect">
            <a:avLst/>
          </a:prstGeom>
        </p:spPr>
      </p:pic>
      <p:sp>
        <p:nvSpPr>
          <p:cNvPr id="24" name="Text 18"/>
          <p:cNvSpPr/>
          <p:nvPr/>
        </p:nvSpPr>
        <p:spPr>
          <a:xfrm>
            <a:off x="5184648" y="2990088"/>
            <a:ext cx="356616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Optimization</a:t>
            </a:r>
            <a:endParaRPr lang="en-US" sz="1200" dirty="0"/>
          </a:p>
        </p:txBody>
      </p:sp>
      <p:sp>
        <p:nvSpPr>
          <p:cNvPr id="25" name="Text 19"/>
          <p:cNvSpPr/>
          <p:nvPr/>
        </p:nvSpPr>
        <p:spPr>
          <a:xfrm>
            <a:off x="4892040" y="3401568"/>
            <a:ext cx="3840480" cy="1005840"/>
          </a:xfrm>
          <a:prstGeom prst="rect">
            <a:avLst/>
          </a:prstGeom>
          <a:noFill/>
          <a:ln/>
        </p:spPr>
        <p:txBody>
          <a:bodyPr wrap="square" lIns="0" tIns="0" rIns="0" bIns="0" rtlCol="0" anchor="ctr"/>
          <a:lstStyle/>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SciPy linprog</a:t>
            </a:r>
            <a:endParaRPr lang="en-US" sz="1400" dirty="0"/>
          </a:p>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HiGHS Solver</a:t>
            </a:r>
            <a:endParaRPr lang="en-US" sz="1400" dirty="0"/>
          </a:p>
          <a:p>
            <a:pPr marL="342900" indent="-342900">
              <a:spcAft>
                <a:spcPts val="400"/>
              </a:spcAft>
              <a:buSzPct val="100000"/>
              <a:buChar char="•"/>
            </a:pPr>
            <a:r>
              <a:rPr lang="en-US" sz="1400" dirty="0">
                <a:solidFill>
                  <a:srgbClr val="334155"/>
                </a:solidFill>
                <a:latin typeface="Trebuchet MS" pitchFamily="34" charset="0"/>
                <a:ea typeface="Trebuchet MS" pitchFamily="34" charset="-122"/>
                <a:cs typeface="Trebuchet MS" pitchFamily="34" charset="-120"/>
              </a:rPr>
              <a:t>20% Flex LP</a:t>
            </a:r>
            <a:endParaRPr lang="en-US" sz="1400" dirty="0"/>
          </a:p>
        </p:txBody>
      </p:sp>
      <p:sp>
        <p:nvSpPr>
          <p:cNvPr id="26" name="Shape 20"/>
          <p:cNvSpPr/>
          <p:nvPr/>
        </p:nvSpPr>
        <p:spPr>
          <a:xfrm>
            <a:off x="365760" y="4617720"/>
            <a:ext cx="8412480" cy="347472"/>
          </a:xfrm>
          <a:prstGeom prst="rect">
            <a:avLst/>
          </a:prstGeom>
          <a:solidFill>
            <a:srgbClr val="0D1B2A"/>
          </a:solidFill>
          <a:ln w="12700">
            <a:solidFill>
              <a:srgbClr val="E2E8F0"/>
            </a:solidFill>
            <a:prstDash val="solid"/>
          </a:ln>
          <a:effectLst>
            <a:outerShdw blurRad="101600" dist="38100" dir="8100000" algn="bl" rotWithShape="0">
              <a:srgbClr val="000000">
                <a:alpha val="12000"/>
              </a:srgbClr>
            </a:outerShdw>
          </a:effectLst>
        </p:spPr>
      </p:sp>
      <p:sp>
        <p:nvSpPr>
          <p:cNvPr id="27" name="Text 21"/>
          <p:cNvSpPr/>
          <p:nvPr/>
        </p:nvSpPr>
        <p:spPr>
          <a:xfrm>
            <a:off x="365760" y="4617720"/>
            <a:ext cx="8412480" cy="347472"/>
          </a:xfrm>
          <a:prstGeom prst="rect">
            <a:avLst/>
          </a:prstGeom>
          <a:noFill/>
          <a:ln/>
        </p:spPr>
        <p:txBody>
          <a:bodyPr wrap="square" lIns="0" tIns="0" rIns="0" bIns="0" rtlCol="0" anchor="ctr"/>
          <a:lstStyle/>
          <a:p>
            <a:pPr marL="0" indent="0" algn="ctr">
              <a:buNone/>
            </a:pPr>
            <a:r>
              <a:rPr lang="en-US" sz="1000" dirty="0">
                <a:solidFill>
                  <a:srgbClr val="FFFFFF"/>
                </a:solidFill>
                <a:latin typeface="Trebuchet MS" pitchFamily="34" charset="0"/>
                <a:ea typeface="Trebuchet MS" pitchFamily="34" charset="-122"/>
                <a:cs typeface="Trebuchet MS" pitchFamily="34" charset="-120"/>
              </a:rPr>
              <a:t>Also: Joblib  •  metadata.json  •  collections.deque  •  Walk-forward CV  •  Temporal splits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1939834" cy="290918"/>
          </a:xfrm>
          <a:prstGeom prst="roundRect">
            <a:avLst>
              <a:gd name="adj" fmla="val 21429"/>
            </a:avLst>
          </a:prstGeom>
          <a:solidFill>
            <a:srgbClr val="0A7C6E"/>
          </a:solidFill>
          <a:ln w="12700">
            <a:solidFill>
              <a:srgbClr val="0A7C6E"/>
            </a:solidFill>
            <a:prstDash val="solid"/>
          </a:ln>
        </p:spPr>
      </p:sp>
      <p:sp>
        <p:nvSpPr>
          <p:cNvPr id="3" name="Text 1"/>
          <p:cNvSpPr/>
          <p:nvPr/>
        </p:nvSpPr>
        <p:spPr>
          <a:xfrm>
            <a:off x="365760" y="164592"/>
            <a:ext cx="1939834" cy="338328"/>
          </a:xfrm>
          <a:prstGeom prst="rect">
            <a:avLst/>
          </a:prstGeom>
          <a:noFill/>
          <a:ln/>
        </p:spPr>
        <p:txBody>
          <a:bodyPr wrap="square" lIns="0" tIns="0" rIns="0" bIns="0" rtlCol="0" anchor="ctr"/>
          <a:lstStyle/>
          <a:p>
            <a:pPr marL="0" indent="0" algn="ctr">
              <a:buNone/>
            </a:pPr>
            <a:r>
              <a:rPr lang="en-US" sz="1100" b="1" kern="0" spc="200" dirty="0">
                <a:solidFill>
                  <a:srgbClr val="FFFFFF"/>
                </a:solidFill>
              </a:rPr>
              <a:t>LIVE</a:t>
            </a:r>
            <a:r>
              <a:rPr lang="en-US" sz="800" b="1" kern="0" spc="200" dirty="0">
                <a:solidFill>
                  <a:srgbClr val="FFFFFF"/>
                </a:solidFill>
              </a:rPr>
              <a:t> </a:t>
            </a:r>
            <a:r>
              <a:rPr lang="en-US" sz="1100" b="1" kern="0" spc="200" dirty="0">
                <a:solidFill>
                  <a:srgbClr val="FFFFFF"/>
                </a:solidFill>
              </a:rPr>
              <a:t>DEMO</a:t>
            </a:r>
            <a:endParaRPr lang="en-US" sz="1100" dirty="0"/>
          </a:p>
        </p:txBody>
      </p:sp>
      <p:sp>
        <p:nvSpPr>
          <p:cNvPr id="4" name="Text 2"/>
          <p:cNvSpPr/>
          <p:nvPr/>
        </p:nvSpPr>
        <p:spPr>
          <a:xfrm>
            <a:off x="365760" y="502920"/>
            <a:ext cx="8412480" cy="475488"/>
          </a:xfrm>
          <a:prstGeom prst="rect">
            <a:avLst/>
          </a:prstGeom>
          <a:noFill/>
          <a:ln/>
        </p:spPr>
        <p:txBody>
          <a:bodyPr wrap="square" lIns="0" tIns="0" rIns="0" bIns="0" rtlCol="0" anchor="ctr"/>
          <a:lstStyle/>
          <a:p>
            <a:pPr marL="0" indent="0">
              <a:buNone/>
            </a:pPr>
            <a:r>
              <a:rPr lang="en-US" sz="2600" b="1" dirty="0">
                <a:solidFill>
                  <a:srgbClr val="0D1B2A"/>
                </a:solidFill>
                <a:latin typeface="Trebuchet MS" pitchFamily="34" charset="0"/>
                <a:ea typeface="Trebuchet MS" pitchFamily="34" charset="-122"/>
                <a:cs typeface="Trebuchet MS" pitchFamily="34" charset="-120"/>
              </a:rPr>
              <a:t>Dashboard Walkthrough</a:t>
            </a:r>
            <a:endParaRPr lang="en-US" sz="2600" dirty="0"/>
          </a:p>
        </p:txBody>
      </p:sp>
      <p:sp>
        <p:nvSpPr>
          <p:cNvPr id="5" name="Shape 3"/>
          <p:cNvSpPr/>
          <p:nvPr/>
        </p:nvSpPr>
        <p:spPr>
          <a:xfrm>
            <a:off x="365760" y="1024128"/>
            <a:ext cx="8412480" cy="0"/>
          </a:xfrm>
          <a:prstGeom prst="line">
            <a:avLst/>
          </a:prstGeom>
          <a:noFill/>
          <a:ln w="12700">
            <a:solidFill>
              <a:srgbClr val="E2E8F0"/>
            </a:solidFill>
            <a:prstDash val="solid"/>
          </a:ln>
        </p:spPr>
      </p:sp>
      <p:sp>
        <p:nvSpPr>
          <p:cNvPr id="6" name="Shape 4"/>
          <p:cNvSpPr/>
          <p:nvPr/>
        </p:nvSpPr>
        <p:spPr>
          <a:xfrm>
            <a:off x="7269480" y="49313"/>
            <a:ext cx="1508760" cy="1271339"/>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7791311" y="104636"/>
            <a:ext cx="350874" cy="350874"/>
          </a:xfrm>
          <a:prstGeom prst="rect">
            <a:avLst/>
          </a:prstGeom>
          <a:solidFill>
            <a:schemeClr val="tx1"/>
          </a:solidFill>
        </p:spPr>
      </p:pic>
      <p:sp>
        <p:nvSpPr>
          <p:cNvPr id="10" name="Text 7"/>
          <p:cNvSpPr/>
          <p:nvPr/>
        </p:nvSpPr>
        <p:spPr>
          <a:xfrm>
            <a:off x="7282543" y="444665"/>
            <a:ext cx="1368410" cy="266280"/>
          </a:xfrm>
          <a:prstGeom prst="rect">
            <a:avLst/>
          </a:prstGeom>
          <a:noFill/>
          <a:ln/>
        </p:spPr>
        <p:txBody>
          <a:bodyPr wrap="square" lIns="0" tIns="0" rIns="0" bIns="0"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Input Reading</a:t>
            </a:r>
            <a:endParaRPr lang="en-US" sz="1200" dirty="0"/>
          </a:p>
        </p:txBody>
      </p:sp>
      <p:sp>
        <p:nvSpPr>
          <p:cNvPr id="11" name="Text 8"/>
          <p:cNvSpPr/>
          <p:nvPr/>
        </p:nvSpPr>
        <p:spPr>
          <a:xfrm>
            <a:off x="7305403" y="731614"/>
            <a:ext cx="1333323" cy="424447"/>
          </a:xfrm>
          <a:prstGeom prst="rect">
            <a:avLst/>
          </a:prstGeom>
          <a:noFill/>
          <a:ln/>
        </p:spPr>
        <p:txBody>
          <a:bodyPr wrap="square" lIns="0" tIns="0" rIns="0" bIns="0" rtlCol="0" anchor="ctr"/>
          <a:lstStyle/>
          <a:p>
            <a:pPr marL="0" indent="0" algn="ctr">
              <a:buNone/>
            </a:pPr>
            <a:r>
              <a:rPr lang="en-US" sz="950" dirty="0">
                <a:solidFill>
                  <a:srgbClr val="64748B"/>
                </a:solidFill>
                <a:latin typeface="Trebuchet MS" pitchFamily="34" charset="0"/>
                <a:ea typeface="Trebuchet MS" pitchFamily="34" charset="-122"/>
                <a:cs typeface="Trebuchet MS" pitchFamily="34" charset="-120"/>
              </a:rPr>
              <a:t>User submits a timestamp + consumption value (kW) via PredictionForm</a:t>
            </a:r>
            <a:endParaRPr lang="en-US" sz="950" dirty="0"/>
          </a:p>
        </p:txBody>
      </p:sp>
      <p:sp>
        <p:nvSpPr>
          <p:cNvPr id="12" name="Shape 9"/>
          <p:cNvSpPr/>
          <p:nvPr/>
        </p:nvSpPr>
        <p:spPr>
          <a:xfrm>
            <a:off x="7260336" y="1300279"/>
            <a:ext cx="1508760" cy="127133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pic>
        <p:nvPicPr>
          <p:cNvPr id="15" name="Image 1" descr="preencoded.png"/>
          <p:cNvPicPr>
            <a:picLocks noChangeAspect="1"/>
          </p:cNvPicPr>
          <p:nvPr/>
        </p:nvPicPr>
        <p:blipFill>
          <a:blip r:embed="rId4"/>
          <a:stretch>
            <a:fillRect/>
          </a:stretch>
        </p:blipFill>
        <p:spPr>
          <a:xfrm>
            <a:off x="7861288" y="1371099"/>
            <a:ext cx="350874" cy="350874"/>
          </a:xfrm>
          <a:prstGeom prst="rect">
            <a:avLst/>
          </a:prstGeom>
          <a:solidFill>
            <a:schemeClr val="tx1"/>
          </a:solidFill>
        </p:spPr>
      </p:pic>
      <p:sp>
        <p:nvSpPr>
          <p:cNvPr id="16" name="Text 12"/>
          <p:cNvSpPr/>
          <p:nvPr/>
        </p:nvSpPr>
        <p:spPr>
          <a:xfrm>
            <a:off x="7364186" y="1692690"/>
            <a:ext cx="1368410" cy="266280"/>
          </a:xfrm>
          <a:prstGeom prst="rect">
            <a:avLst/>
          </a:prstGeom>
          <a:noFill/>
          <a:ln/>
        </p:spPr>
        <p:txBody>
          <a:bodyPr wrap="square" lIns="0" tIns="0" rIns="0" bIns="0"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Forecast Graph</a:t>
            </a:r>
            <a:endParaRPr lang="en-US" sz="1200" dirty="0"/>
          </a:p>
        </p:txBody>
      </p:sp>
      <p:sp>
        <p:nvSpPr>
          <p:cNvPr id="17" name="Text 13"/>
          <p:cNvSpPr/>
          <p:nvPr/>
        </p:nvSpPr>
        <p:spPr>
          <a:xfrm>
            <a:off x="7370064" y="2063664"/>
            <a:ext cx="1333323" cy="343361"/>
          </a:xfrm>
          <a:prstGeom prst="rect">
            <a:avLst/>
          </a:prstGeom>
          <a:noFill/>
          <a:ln/>
        </p:spPr>
        <p:txBody>
          <a:bodyPr wrap="square" lIns="0" tIns="0" rIns="0" bIns="0" rtlCol="0" anchor="ctr"/>
          <a:lstStyle/>
          <a:p>
            <a:pPr marL="0" indent="0" algn="ctr">
              <a:buNone/>
            </a:pPr>
            <a:r>
              <a:rPr lang="en-US" sz="950" dirty="0">
                <a:solidFill>
                  <a:srgbClr val="64748B"/>
                </a:solidFill>
                <a:latin typeface="Trebuchet MS" pitchFamily="34" charset="0"/>
                <a:ea typeface="Trebuchet MS" pitchFamily="34" charset="-122"/>
                <a:cs typeface="Trebuchet MS" pitchFamily="34" charset="-120"/>
              </a:rPr>
              <a:t>ForecastChart renders 24h prediction with q05–q95 shaded confidence band</a:t>
            </a:r>
            <a:endParaRPr lang="en-US" sz="950" dirty="0"/>
          </a:p>
        </p:txBody>
      </p:sp>
      <p:sp>
        <p:nvSpPr>
          <p:cNvPr id="18" name="Shape 14"/>
          <p:cNvSpPr/>
          <p:nvPr/>
        </p:nvSpPr>
        <p:spPr>
          <a:xfrm>
            <a:off x="7260336" y="2551510"/>
            <a:ext cx="1508760" cy="1271339"/>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pic>
        <p:nvPicPr>
          <p:cNvPr id="21" name="Image 2" descr="preencoded.png"/>
          <p:cNvPicPr>
            <a:picLocks noChangeAspect="1"/>
          </p:cNvPicPr>
          <p:nvPr/>
        </p:nvPicPr>
        <p:blipFill>
          <a:blip r:embed="rId5"/>
          <a:stretch>
            <a:fillRect/>
          </a:stretch>
        </p:blipFill>
        <p:spPr>
          <a:xfrm>
            <a:off x="7863704" y="2606832"/>
            <a:ext cx="350874" cy="350874"/>
          </a:xfrm>
          <a:prstGeom prst="rect">
            <a:avLst/>
          </a:prstGeom>
          <a:solidFill>
            <a:schemeClr val="tx1"/>
          </a:solidFill>
        </p:spPr>
      </p:pic>
      <p:sp>
        <p:nvSpPr>
          <p:cNvPr id="22" name="Text 17"/>
          <p:cNvSpPr/>
          <p:nvPr/>
        </p:nvSpPr>
        <p:spPr>
          <a:xfrm>
            <a:off x="7323038" y="2943922"/>
            <a:ext cx="1368410" cy="266280"/>
          </a:xfrm>
          <a:prstGeom prst="rect">
            <a:avLst/>
          </a:prstGeom>
          <a:noFill/>
          <a:ln/>
        </p:spPr>
        <p:txBody>
          <a:bodyPr wrap="square" lIns="0" tIns="0" rIns="0" bIns="0"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Anomaly Alert</a:t>
            </a:r>
            <a:endParaRPr lang="en-US" sz="1200" dirty="0"/>
          </a:p>
        </p:txBody>
      </p:sp>
      <p:sp>
        <p:nvSpPr>
          <p:cNvPr id="23" name="Text 18"/>
          <p:cNvSpPr/>
          <p:nvPr/>
        </p:nvSpPr>
        <p:spPr>
          <a:xfrm>
            <a:off x="7370064" y="3314896"/>
            <a:ext cx="1333323" cy="343361"/>
          </a:xfrm>
          <a:prstGeom prst="rect">
            <a:avLst/>
          </a:prstGeom>
          <a:noFill/>
          <a:ln/>
        </p:spPr>
        <p:txBody>
          <a:bodyPr wrap="square" lIns="0" tIns="0" rIns="0" bIns="0" rtlCol="0" anchor="ctr"/>
          <a:lstStyle/>
          <a:p>
            <a:pPr marL="0" indent="0" algn="ctr">
              <a:buNone/>
            </a:pPr>
            <a:r>
              <a:rPr lang="en-US" sz="950" dirty="0">
                <a:solidFill>
                  <a:srgbClr val="64748B"/>
                </a:solidFill>
                <a:latin typeface="Trebuchet MS" pitchFamily="34" charset="0"/>
                <a:ea typeface="Trebuchet MS" pitchFamily="34" charset="-122"/>
                <a:cs typeface="Trebuchet MS" pitchFamily="34" charset="-120"/>
              </a:rPr>
              <a:t>AnomalyIndicator fires red WARNING if sigma &gt; 3.5 AND Isolation Forest agree</a:t>
            </a:r>
            <a:endParaRPr lang="en-US" sz="950" dirty="0"/>
          </a:p>
        </p:txBody>
      </p:sp>
      <p:sp>
        <p:nvSpPr>
          <p:cNvPr id="24" name="Shape 19"/>
          <p:cNvSpPr/>
          <p:nvPr/>
        </p:nvSpPr>
        <p:spPr>
          <a:xfrm>
            <a:off x="7260336" y="3806848"/>
            <a:ext cx="1508760" cy="1271340"/>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pic>
        <p:nvPicPr>
          <p:cNvPr id="27" name="Image 3" descr="preencoded.png"/>
          <p:cNvPicPr>
            <a:picLocks noChangeAspect="1"/>
          </p:cNvPicPr>
          <p:nvPr/>
        </p:nvPicPr>
        <p:blipFill>
          <a:blip r:embed="rId6"/>
          <a:stretch>
            <a:fillRect/>
          </a:stretch>
        </p:blipFill>
        <p:spPr>
          <a:xfrm>
            <a:off x="7839279" y="3877670"/>
            <a:ext cx="350874" cy="350874"/>
          </a:xfrm>
          <a:prstGeom prst="rect">
            <a:avLst/>
          </a:prstGeom>
          <a:solidFill>
            <a:schemeClr val="tx1"/>
          </a:solidFill>
        </p:spPr>
      </p:pic>
      <p:sp>
        <p:nvSpPr>
          <p:cNvPr id="28" name="Text 22"/>
          <p:cNvSpPr/>
          <p:nvPr/>
        </p:nvSpPr>
        <p:spPr>
          <a:xfrm>
            <a:off x="7323038" y="4199261"/>
            <a:ext cx="1368410" cy="266280"/>
          </a:xfrm>
          <a:prstGeom prst="rect">
            <a:avLst/>
          </a:prstGeom>
          <a:noFill/>
          <a:ln/>
        </p:spPr>
        <p:txBody>
          <a:bodyPr wrap="square" lIns="0" tIns="0" rIns="0" bIns="0"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Cost Savings</a:t>
            </a:r>
            <a:endParaRPr lang="en-US" sz="1200" dirty="0"/>
          </a:p>
        </p:txBody>
      </p:sp>
      <p:sp>
        <p:nvSpPr>
          <p:cNvPr id="29" name="Text 23"/>
          <p:cNvSpPr/>
          <p:nvPr/>
        </p:nvSpPr>
        <p:spPr>
          <a:xfrm>
            <a:off x="7370064" y="4570235"/>
            <a:ext cx="1333323" cy="343361"/>
          </a:xfrm>
          <a:prstGeom prst="rect">
            <a:avLst/>
          </a:prstGeom>
          <a:noFill/>
          <a:ln/>
        </p:spPr>
        <p:txBody>
          <a:bodyPr wrap="square" lIns="0" tIns="0" rIns="0" bIns="0" rtlCol="0" anchor="ctr"/>
          <a:lstStyle/>
          <a:p>
            <a:pPr marL="0" indent="0" algn="ctr">
              <a:buNone/>
            </a:pPr>
            <a:r>
              <a:rPr lang="en-US" sz="950" dirty="0">
                <a:solidFill>
                  <a:srgbClr val="64748B"/>
                </a:solidFill>
                <a:latin typeface="Trebuchet MS" pitchFamily="34" charset="0"/>
                <a:ea typeface="Trebuchet MS" pitchFamily="34" charset="-122"/>
                <a:cs typeface="Trebuchet MS" pitchFamily="34" charset="-120"/>
              </a:rPr>
              <a:t>OptimizationPanel shows original vs LP-optimized cost bar chart with ₹ savings</a:t>
            </a:r>
            <a:endParaRPr lang="en-US" sz="950" dirty="0"/>
          </a:p>
        </p:txBody>
      </p:sp>
      <p:pic>
        <p:nvPicPr>
          <p:cNvPr id="33" name="Picture 32">
            <a:extLst>
              <a:ext uri="{FF2B5EF4-FFF2-40B4-BE49-F238E27FC236}">
                <a16:creationId xmlns:a16="http://schemas.microsoft.com/office/drawing/2014/main" id="{159892B6-9496-3568-B4E7-055FE558E9E3}"/>
              </a:ext>
            </a:extLst>
          </p:cNvPr>
          <p:cNvPicPr>
            <a:picLocks noChangeAspect="1"/>
          </p:cNvPicPr>
          <p:nvPr/>
        </p:nvPicPr>
        <p:blipFill>
          <a:blip r:embed="rId7"/>
          <a:stretch>
            <a:fillRect/>
          </a:stretch>
        </p:blipFill>
        <p:spPr>
          <a:xfrm>
            <a:off x="312751" y="1151045"/>
            <a:ext cx="6869937" cy="358575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365760" y="164592"/>
            <a:ext cx="2122714" cy="292608"/>
          </a:xfrm>
          <a:prstGeom prst="roundRect">
            <a:avLst>
              <a:gd name="adj" fmla="val 21429"/>
            </a:avLst>
          </a:prstGeom>
          <a:solidFill>
            <a:srgbClr val="0A7C6E"/>
          </a:solidFill>
          <a:ln w="12700">
            <a:solidFill>
              <a:srgbClr val="0A7C6E"/>
            </a:solidFill>
            <a:prstDash val="solid"/>
          </a:ln>
        </p:spPr>
      </p:sp>
      <p:sp>
        <p:nvSpPr>
          <p:cNvPr id="3" name="Text 1"/>
          <p:cNvSpPr/>
          <p:nvPr/>
        </p:nvSpPr>
        <p:spPr>
          <a:xfrm>
            <a:off x="365759" y="164592"/>
            <a:ext cx="2122713" cy="292608"/>
          </a:xfrm>
          <a:prstGeom prst="rect">
            <a:avLst/>
          </a:prstGeom>
          <a:noFill/>
          <a:ln/>
        </p:spPr>
        <p:txBody>
          <a:bodyPr wrap="square" lIns="0" tIns="0" rIns="0" bIns="0" rtlCol="0" anchor="ctr"/>
          <a:lstStyle/>
          <a:p>
            <a:pPr marL="0" indent="0" algn="ctr">
              <a:buNone/>
            </a:pPr>
            <a:r>
              <a:rPr lang="en-US" sz="1100" b="1" kern="0" spc="200" dirty="0">
                <a:solidFill>
                  <a:srgbClr val="FFFFFF"/>
                </a:solidFill>
              </a:rPr>
              <a:t>RESULTS &amp; EVALUATION</a:t>
            </a:r>
            <a:endParaRPr lang="en-US" sz="1100" dirty="0"/>
          </a:p>
        </p:txBody>
      </p:sp>
      <p:sp>
        <p:nvSpPr>
          <p:cNvPr id="4" name="Text 2"/>
          <p:cNvSpPr/>
          <p:nvPr/>
        </p:nvSpPr>
        <p:spPr>
          <a:xfrm>
            <a:off x="365760" y="502920"/>
            <a:ext cx="8412480" cy="475488"/>
          </a:xfrm>
          <a:prstGeom prst="rect">
            <a:avLst/>
          </a:prstGeom>
          <a:noFill/>
          <a:ln/>
        </p:spPr>
        <p:txBody>
          <a:bodyPr wrap="square" lIns="0" tIns="0" rIns="0" bIns="0" rtlCol="0" anchor="ctr"/>
          <a:lstStyle/>
          <a:p>
            <a:pPr marL="0" indent="0">
              <a:buNone/>
            </a:pPr>
            <a:r>
              <a:rPr lang="en-US" sz="2600" b="1" dirty="0">
                <a:solidFill>
                  <a:srgbClr val="0D1B2A"/>
                </a:solidFill>
                <a:latin typeface="Trebuchet MS" pitchFamily="34" charset="0"/>
                <a:ea typeface="Trebuchet MS" pitchFamily="34" charset="-122"/>
                <a:cs typeface="Trebuchet MS" pitchFamily="34" charset="-120"/>
              </a:rPr>
              <a:t>Measured Performance Across All Phases</a:t>
            </a:r>
            <a:endParaRPr lang="en-US" sz="2600" dirty="0"/>
          </a:p>
        </p:txBody>
      </p:sp>
      <p:sp>
        <p:nvSpPr>
          <p:cNvPr id="5" name="Shape 3"/>
          <p:cNvSpPr/>
          <p:nvPr/>
        </p:nvSpPr>
        <p:spPr>
          <a:xfrm>
            <a:off x="365760" y="1024128"/>
            <a:ext cx="8412480" cy="0"/>
          </a:xfrm>
          <a:prstGeom prst="line">
            <a:avLst/>
          </a:prstGeom>
          <a:noFill/>
          <a:ln w="12700">
            <a:solidFill>
              <a:srgbClr val="E2E8F0"/>
            </a:solidFill>
            <a:prstDash val="solid"/>
          </a:ln>
        </p:spPr>
      </p:sp>
      <p:graphicFrame>
        <p:nvGraphicFramePr>
          <p:cNvPr id="6" name="Chart 0"/>
          <p:cNvGraphicFramePr/>
          <p:nvPr>
            <p:extLst>
              <p:ext uri="{D42A27DB-BD31-4B8C-83A1-F6EECF244321}">
                <p14:modId xmlns:p14="http://schemas.microsoft.com/office/powerpoint/2010/main" val="845941692"/>
              </p:ext>
            </p:extLst>
          </p:nvPr>
        </p:nvGraphicFramePr>
        <p:xfrm>
          <a:off x="365760" y="1143000"/>
          <a:ext cx="530352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897880" y="1143000"/>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8" name="Shape 5"/>
          <p:cNvSpPr/>
          <p:nvPr/>
        </p:nvSpPr>
        <p:spPr>
          <a:xfrm>
            <a:off x="5897880" y="1143000"/>
            <a:ext cx="109728" cy="713232"/>
          </a:xfrm>
          <a:prstGeom prst="rect">
            <a:avLst/>
          </a:prstGeom>
          <a:solidFill>
            <a:srgbClr val="10B981"/>
          </a:solidFill>
          <a:ln w="12700">
            <a:solidFill>
              <a:srgbClr val="10B981"/>
            </a:solidFill>
            <a:prstDash val="solid"/>
          </a:ln>
        </p:spPr>
      </p:sp>
      <p:sp>
        <p:nvSpPr>
          <p:cNvPr id="9" name="Text 6"/>
          <p:cNvSpPr/>
          <p:nvPr/>
        </p:nvSpPr>
        <p:spPr>
          <a:xfrm>
            <a:off x="6126480" y="1179576"/>
            <a:ext cx="2468880" cy="347472"/>
          </a:xfrm>
          <a:prstGeom prst="rect">
            <a:avLst/>
          </a:prstGeom>
          <a:noFill/>
          <a:ln/>
        </p:spPr>
        <p:txBody>
          <a:bodyPr wrap="square" lIns="0" tIns="0" rIns="0" bIns="0" rtlCol="0" anchor="ctr"/>
          <a:lstStyle/>
          <a:p>
            <a:pPr marL="0" indent="0">
              <a:buNone/>
            </a:pPr>
            <a:r>
              <a:rPr lang="en-US" sz="2000" b="1" dirty="0">
                <a:solidFill>
                  <a:srgbClr val="10B981"/>
                </a:solidFill>
                <a:latin typeface="Trebuchet MS" pitchFamily="34" charset="0"/>
                <a:ea typeface="Trebuchet MS" pitchFamily="34" charset="-122"/>
                <a:cs typeface="Trebuchet MS" pitchFamily="34" charset="-120"/>
              </a:rPr>
              <a:t>84.6%</a:t>
            </a:r>
            <a:endParaRPr lang="en-US" sz="2000" dirty="0"/>
          </a:p>
        </p:txBody>
      </p:sp>
      <p:sp>
        <p:nvSpPr>
          <p:cNvPr id="10" name="Text 7"/>
          <p:cNvSpPr/>
          <p:nvPr/>
        </p:nvSpPr>
        <p:spPr>
          <a:xfrm>
            <a:off x="6126480" y="1490472"/>
            <a:ext cx="2468880" cy="201168"/>
          </a:xfrm>
          <a:prstGeom prst="rect">
            <a:avLst/>
          </a:prstGeom>
          <a:noFill/>
          <a:ln/>
        </p:spPr>
        <p:txBody>
          <a:bodyPr wrap="square" lIns="0" tIns="0" rIns="0" bIns="0" rtlCol="0" anchor="ctr"/>
          <a:lstStyle/>
          <a:p>
            <a:pPr marL="0" indent="0">
              <a:buNone/>
            </a:pPr>
            <a:r>
              <a:rPr lang="en-US" sz="1000" b="1" dirty="0">
                <a:solidFill>
                  <a:srgbClr val="1E293B"/>
                </a:solidFill>
                <a:latin typeface="Trebuchet MS" pitchFamily="34" charset="0"/>
                <a:ea typeface="Trebuchet MS" pitchFamily="34" charset="-122"/>
                <a:cs typeface="Trebuchet MS" pitchFamily="34" charset="-120"/>
              </a:rPr>
              <a:t>Anomaly Precision</a:t>
            </a:r>
            <a:endParaRPr lang="en-US" sz="1000" dirty="0"/>
          </a:p>
        </p:txBody>
      </p:sp>
      <p:sp>
        <p:nvSpPr>
          <p:cNvPr id="11" name="Text 8"/>
          <p:cNvSpPr/>
          <p:nvPr/>
        </p:nvSpPr>
        <p:spPr>
          <a:xfrm>
            <a:off x="6126480" y="1673352"/>
            <a:ext cx="2468880" cy="164592"/>
          </a:xfrm>
          <a:prstGeom prst="rect">
            <a:avLst/>
          </a:prstGeom>
          <a:noFill/>
          <a:ln/>
        </p:spPr>
        <p:txBody>
          <a:bodyPr wrap="square" lIns="0" tIns="0" rIns="0" bIns="0" rtlCol="0" anchor="ctr"/>
          <a:lstStyle/>
          <a:p>
            <a:pPr marL="0" indent="0">
              <a:buNone/>
            </a:pPr>
            <a:r>
              <a:rPr lang="en-US" sz="850" dirty="0">
                <a:solidFill>
                  <a:srgbClr val="64748B"/>
                </a:solidFill>
                <a:latin typeface="Trebuchet MS" pitchFamily="34" charset="0"/>
                <a:ea typeface="Trebuchet MS" pitchFamily="34" charset="-122"/>
                <a:cs typeface="Trebuchet MS" pitchFamily="34" charset="-120"/>
              </a:rPr>
              <a:t>4 false alarms / 26 flags</a:t>
            </a:r>
            <a:endParaRPr lang="en-US" sz="850" dirty="0"/>
          </a:p>
        </p:txBody>
      </p:sp>
      <p:sp>
        <p:nvSpPr>
          <p:cNvPr id="12" name="Shape 9"/>
          <p:cNvSpPr/>
          <p:nvPr/>
        </p:nvSpPr>
        <p:spPr>
          <a:xfrm>
            <a:off x="5897880" y="2057400"/>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3" name="Shape 10"/>
          <p:cNvSpPr/>
          <p:nvPr/>
        </p:nvSpPr>
        <p:spPr>
          <a:xfrm>
            <a:off x="5897880" y="2057400"/>
            <a:ext cx="109728" cy="713232"/>
          </a:xfrm>
          <a:prstGeom prst="rect">
            <a:avLst/>
          </a:prstGeom>
          <a:solidFill>
            <a:srgbClr val="0A7C6E"/>
          </a:solidFill>
          <a:ln w="12700">
            <a:solidFill>
              <a:srgbClr val="0A7C6E"/>
            </a:solidFill>
            <a:prstDash val="solid"/>
          </a:ln>
        </p:spPr>
      </p:sp>
      <p:sp>
        <p:nvSpPr>
          <p:cNvPr id="14" name="Text 11"/>
          <p:cNvSpPr/>
          <p:nvPr/>
        </p:nvSpPr>
        <p:spPr>
          <a:xfrm>
            <a:off x="6126480" y="2093976"/>
            <a:ext cx="2468880" cy="347472"/>
          </a:xfrm>
          <a:prstGeom prst="rect">
            <a:avLst/>
          </a:prstGeom>
          <a:noFill/>
          <a:ln/>
        </p:spPr>
        <p:txBody>
          <a:bodyPr wrap="square" lIns="0" tIns="0" rIns="0" bIns="0" rtlCol="0" anchor="ctr"/>
          <a:lstStyle/>
          <a:p>
            <a:pPr marL="0" indent="0">
              <a:buNone/>
            </a:pPr>
            <a:r>
              <a:rPr lang="en-US" sz="2000" b="1" dirty="0">
                <a:solidFill>
                  <a:srgbClr val="0A7C6E"/>
                </a:solidFill>
                <a:latin typeface="Trebuchet MS" pitchFamily="34" charset="0"/>
                <a:ea typeface="Trebuchet MS" pitchFamily="34" charset="-122"/>
                <a:cs typeface="Trebuchet MS" pitchFamily="34" charset="-120"/>
              </a:rPr>
              <a:t>73.3%</a:t>
            </a:r>
            <a:endParaRPr lang="en-US" sz="2000" dirty="0"/>
          </a:p>
        </p:txBody>
      </p:sp>
      <p:sp>
        <p:nvSpPr>
          <p:cNvPr id="15" name="Text 12"/>
          <p:cNvSpPr/>
          <p:nvPr/>
        </p:nvSpPr>
        <p:spPr>
          <a:xfrm>
            <a:off x="6126480" y="2404872"/>
            <a:ext cx="2468880" cy="201168"/>
          </a:xfrm>
          <a:prstGeom prst="rect">
            <a:avLst/>
          </a:prstGeom>
          <a:noFill/>
          <a:ln/>
        </p:spPr>
        <p:txBody>
          <a:bodyPr wrap="square" lIns="0" tIns="0" rIns="0" bIns="0" rtlCol="0" anchor="ctr"/>
          <a:lstStyle/>
          <a:p>
            <a:pPr marL="0" indent="0">
              <a:buNone/>
            </a:pPr>
            <a:r>
              <a:rPr lang="en-US" sz="1000" b="1" dirty="0">
                <a:solidFill>
                  <a:srgbClr val="1E293B"/>
                </a:solidFill>
                <a:latin typeface="Trebuchet MS" pitchFamily="34" charset="0"/>
                <a:ea typeface="Trebuchet MS" pitchFamily="34" charset="-122"/>
                <a:cs typeface="Trebuchet MS" pitchFamily="34" charset="-120"/>
              </a:rPr>
              <a:t>Anomaly Recall</a:t>
            </a:r>
            <a:endParaRPr lang="en-US" sz="1000" dirty="0"/>
          </a:p>
        </p:txBody>
      </p:sp>
      <p:sp>
        <p:nvSpPr>
          <p:cNvPr id="16" name="Text 13"/>
          <p:cNvSpPr/>
          <p:nvPr/>
        </p:nvSpPr>
        <p:spPr>
          <a:xfrm>
            <a:off x="6126480" y="2587752"/>
            <a:ext cx="2468880" cy="164592"/>
          </a:xfrm>
          <a:prstGeom prst="rect">
            <a:avLst/>
          </a:prstGeom>
          <a:noFill/>
          <a:ln/>
        </p:spPr>
        <p:txBody>
          <a:bodyPr wrap="square" lIns="0" tIns="0" rIns="0" bIns="0" rtlCol="0" anchor="ctr"/>
          <a:lstStyle/>
          <a:p>
            <a:pPr marL="0" indent="0">
              <a:buNone/>
            </a:pPr>
            <a:r>
              <a:rPr lang="en-US" sz="850" dirty="0">
                <a:solidFill>
                  <a:srgbClr val="64748B"/>
                </a:solidFill>
                <a:latin typeface="Trebuchet MS" pitchFamily="34" charset="0"/>
                <a:ea typeface="Trebuchet MS" pitchFamily="34" charset="-122"/>
                <a:cs typeface="Trebuchet MS" pitchFamily="34" charset="-120"/>
              </a:rPr>
              <a:t>Caught 22 of 30 injected</a:t>
            </a:r>
            <a:endParaRPr lang="en-US" sz="850" dirty="0"/>
          </a:p>
        </p:txBody>
      </p:sp>
      <p:sp>
        <p:nvSpPr>
          <p:cNvPr id="17" name="Shape 14"/>
          <p:cNvSpPr/>
          <p:nvPr/>
        </p:nvSpPr>
        <p:spPr>
          <a:xfrm>
            <a:off x="5897880" y="2971800"/>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8" name="Shape 15"/>
          <p:cNvSpPr/>
          <p:nvPr/>
        </p:nvSpPr>
        <p:spPr>
          <a:xfrm>
            <a:off x="5897880" y="2971800"/>
            <a:ext cx="109728" cy="713232"/>
          </a:xfrm>
          <a:prstGeom prst="rect">
            <a:avLst/>
          </a:prstGeom>
          <a:solidFill>
            <a:srgbClr val="0D1B2A"/>
          </a:solidFill>
          <a:ln w="12700">
            <a:solidFill>
              <a:srgbClr val="0D1B2A"/>
            </a:solidFill>
            <a:prstDash val="solid"/>
          </a:ln>
        </p:spPr>
      </p:sp>
      <p:sp>
        <p:nvSpPr>
          <p:cNvPr id="19" name="Text 16"/>
          <p:cNvSpPr/>
          <p:nvPr/>
        </p:nvSpPr>
        <p:spPr>
          <a:xfrm>
            <a:off x="6126480" y="3008376"/>
            <a:ext cx="2468880" cy="347472"/>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0.786</a:t>
            </a:r>
            <a:endParaRPr lang="en-US" sz="2000" dirty="0"/>
          </a:p>
        </p:txBody>
      </p:sp>
      <p:sp>
        <p:nvSpPr>
          <p:cNvPr id="20" name="Text 17"/>
          <p:cNvSpPr/>
          <p:nvPr/>
        </p:nvSpPr>
        <p:spPr>
          <a:xfrm>
            <a:off x="6126480" y="3319272"/>
            <a:ext cx="2468880" cy="201168"/>
          </a:xfrm>
          <a:prstGeom prst="rect">
            <a:avLst/>
          </a:prstGeom>
          <a:noFill/>
          <a:ln/>
        </p:spPr>
        <p:txBody>
          <a:bodyPr wrap="square" lIns="0" tIns="0" rIns="0" bIns="0" rtlCol="0" anchor="ctr"/>
          <a:lstStyle/>
          <a:p>
            <a:pPr marL="0" indent="0">
              <a:buNone/>
            </a:pPr>
            <a:r>
              <a:rPr lang="en-US" sz="1000" b="1" dirty="0">
                <a:solidFill>
                  <a:srgbClr val="1E293B"/>
                </a:solidFill>
                <a:latin typeface="Trebuchet MS" pitchFamily="34" charset="0"/>
                <a:ea typeface="Trebuchet MS" pitchFamily="34" charset="-122"/>
                <a:cs typeface="Trebuchet MS" pitchFamily="34" charset="-120"/>
              </a:rPr>
              <a:t>F1 Score</a:t>
            </a:r>
            <a:endParaRPr lang="en-US" sz="1000" dirty="0"/>
          </a:p>
        </p:txBody>
      </p:sp>
      <p:sp>
        <p:nvSpPr>
          <p:cNvPr id="21" name="Text 18"/>
          <p:cNvSpPr/>
          <p:nvPr/>
        </p:nvSpPr>
        <p:spPr>
          <a:xfrm>
            <a:off x="6126480" y="3502152"/>
            <a:ext cx="2468880" cy="164592"/>
          </a:xfrm>
          <a:prstGeom prst="rect">
            <a:avLst/>
          </a:prstGeom>
          <a:noFill/>
          <a:ln/>
        </p:spPr>
        <p:txBody>
          <a:bodyPr wrap="square" lIns="0" tIns="0" rIns="0" bIns="0" rtlCol="0" anchor="ctr"/>
          <a:lstStyle/>
          <a:p>
            <a:pPr marL="0" indent="0">
              <a:buNone/>
            </a:pPr>
            <a:r>
              <a:rPr lang="en-US" sz="850" dirty="0">
                <a:solidFill>
                  <a:srgbClr val="64748B"/>
                </a:solidFill>
                <a:latin typeface="Trebuchet MS" pitchFamily="34" charset="0"/>
                <a:ea typeface="Trebuchet MS" pitchFamily="34" charset="-122"/>
                <a:cs typeface="Trebuchet MS" pitchFamily="34" charset="-120"/>
              </a:rPr>
              <a:t>AND-gate validated (v6)</a:t>
            </a:r>
            <a:endParaRPr lang="en-US" sz="850" dirty="0"/>
          </a:p>
        </p:txBody>
      </p:sp>
      <p:sp>
        <p:nvSpPr>
          <p:cNvPr id="22" name="Shape 19"/>
          <p:cNvSpPr/>
          <p:nvPr/>
        </p:nvSpPr>
        <p:spPr>
          <a:xfrm>
            <a:off x="5897880" y="3886200"/>
            <a:ext cx="2834640" cy="713232"/>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3" name="Shape 20"/>
          <p:cNvSpPr/>
          <p:nvPr/>
        </p:nvSpPr>
        <p:spPr>
          <a:xfrm>
            <a:off x="5897880" y="3886200"/>
            <a:ext cx="109728" cy="713232"/>
          </a:xfrm>
          <a:prstGeom prst="rect">
            <a:avLst/>
          </a:prstGeom>
          <a:solidFill>
            <a:srgbClr val="7C3AED"/>
          </a:solidFill>
          <a:ln w="12700">
            <a:solidFill>
              <a:srgbClr val="7C3AED"/>
            </a:solidFill>
            <a:prstDash val="solid"/>
          </a:ln>
        </p:spPr>
      </p:sp>
      <p:sp>
        <p:nvSpPr>
          <p:cNvPr id="24" name="Text 21"/>
          <p:cNvSpPr/>
          <p:nvPr/>
        </p:nvSpPr>
        <p:spPr>
          <a:xfrm>
            <a:off x="6126480" y="3922776"/>
            <a:ext cx="2468880" cy="347472"/>
          </a:xfrm>
          <a:prstGeom prst="rect">
            <a:avLst/>
          </a:prstGeom>
          <a:noFill/>
          <a:ln/>
        </p:spPr>
        <p:txBody>
          <a:bodyPr wrap="square" lIns="0" tIns="0" rIns="0" bIns="0" rtlCol="0" anchor="ctr"/>
          <a:lstStyle/>
          <a:p>
            <a:pPr marL="0" indent="0">
              <a:buNone/>
            </a:pPr>
            <a:r>
              <a:rPr lang="en-US" sz="2000" b="1" dirty="0">
                <a:solidFill>
                  <a:srgbClr val="7C3AED"/>
                </a:solidFill>
                <a:latin typeface="Trebuchet MS" pitchFamily="34" charset="0"/>
                <a:ea typeface="Trebuchet MS" pitchFamily="34" charset="-122"/>
                <a:cs typeface="Trebuchet MS" pitchFamily="34" charset="-120"/>
              </a:rPr>
              <a:t>₹15.65</a:t>
            </a:r>
            <a:endParaRPr lang="en-US" sz="2000" dirty="0"/>
          </a:p>
        </p:txBody>
      </p:sp>
      <p:sp>
        <p:nvSpPr>
          <p:cNvPr id="25" name="Text 22"/>
          <p:cNvSpPr/>
          <p:nvPr/>
        </p:nvSpPr>
        <p:spPr>
          <a:xfrm>
            <a:off x="6126480" y="4233672"/>
            <a:ext cx="2468880" cy="201168"/>
          </a:xfrm>
          <a:prstGeom prst="rect">
            <a:avLst/>
          </a:prstGeom>
          <a:noFill/>
          <a:ln/>
        </p:spPr>
        <p:txBody>
          <a:bodyPr wrap="square" lIns="0" tIns="0" rIns="0" bIns="0" rtlCol="0" anchor="ctr"/>
          <a:lstStyle/>
          <a:p>
            <a:pPr marL="0" indent="0">
              <a:buNone/>
            </a:pPr>
            <a:r>
              <a:rPr lang="en-US" sz="1000" b="1" dirty="0">
                <a:solidFill>
                  <a:srgbClr val="1E293B"/>
                </a:solidFill>
                <a:latin typeface="Trebuchet MS" pitchFamily="34" charset="0"/>
                <a:ea typeface="Trebuchet MS" pitchFamily="34" charset="-122"/>
                <a:cs typeface="Trebuchet MS" pitchFamily="34" charset="-120"/>
              </a:rPr>
              <a:t>LP Savings</a:t>
            </a:r>
            <a:endParaRPr lang="en-US" sz="1000" dirty="0"/>
          </a:p>
        </p:txBody>
      </p:sp>
      <p:sp>
        <p:nvSpPr>
          <p:cNvPr id="26" name="Text 23"/>
          <p:cNvSpPr/>
          <p:nvPr/>
        </p:nvSpPr>
        <p:spPr>
          <a:xfrm>
            <a:off x="6126480" y="4416552"/>
            <a:ext cx="2468880" cy="164592"/>
          </a:xfrm>
          <a:prstGeom prst="rect">
            <a:avLst/>
          </a:prstGeom>
          <a:noFill/>
          <a:ln/>
        </p:spPr>
        <p:txBody>
          <a:bodyPr wrap="square" lIns="0" tIns="0" rIns="0" bIns="0" rtlCol="0" anchor="ctr"/>
          <a:lstStyle/>
          <a:p>
            <a:pPr marL="0" indent="0">
              <a:buNone/>
            </a:pPr>
            <a:r>
              <a:rPr lang="en-US" sz="850" dirty="0">
                <a:solidFill>
                  <a:srgbClr val="64748B"/>
                </a:solidFill>
                <a:latin typeface="Trebuchet MS" pitchFamily="34" charset="0"/>
                <a:ea typeface="Trebuchet MS" pitchFamily="34" charset="-122"/>
                <a:cs typeface="Trebuchet MS" pitchFamily="34" charset="-120"/>
              </a:rPr>
              <a:t>Per 24h session (demo run)</a:t>
            </a:r>
            <a:endParaRPr lang="en-US" sz="850" dirty="0"/>
          </a:p>
        </p:txBody>
      </p:sp>
      <p:sp>
        <p:nvSpPr>
          <p:cNvPr id="27" name="Shape 24"/>
          <p:cNvSpPr/>
          <p:nvPr/>
        </p:nvSpPr>
        <p:spPr>
          <a:xfrm>
            <a:off x="365760" y="3675888"/>
            <a:ext cx="8366760" cy="1234440"/>
          </a:xfrm>
          <a:prstGeom prst="rect">
            <a:avLst/>
          </a:prstGeom>
          <a:solidFill>
            <a:srgbClr val="0D1B2A"/>
          </a:solidFill>
          <a:ln w="12700">
            <a:solidFill>
              <a:srgbClr val="E2E8F0"/>
            </a:solidFill>
            <a:prstDash val="solid"/>
          </a:ln>
          <a:effectLst>
            <a:outerShdw blurRad="101600" dist="38100" dir="8100000" algn="bl" rotWithShape="0">
              <a:srgbClr val="000000">
                <a:alpha val="12000"/>
              </a:srgbClr>
            </a:outerShdw>
          </a:effectLst>
        </p:spPr>
      </p:sp>
      <p:sp>
        <p:nvSpPr>
          <p:cNvPr id="28" name="Text 25"/>
          <p:cNvSpPr/>
          <p:nvPr/>
        </p:nvSpPr>
        <p:spPr>
          <a:xfrm>
            <a:off x="548640" y="3749040"/>
            <a:ext cx="8229600" cy="274320"/>
          </a:xfrm>
          <a:prstGeom prst="rect">
            <a:avLst/>
          </a:prstGeom>
          <a:noFill/>
          <a:ln/>
        </p:spPr>
        <p:txBody>
          <a:bodyPr wrap="square" lIns="0" tIns="0" rIns="0" bIns="0" rtlCol="0" anchor="ctr"/>
          <a:lstStyle/>
          <a:p>
            <a:pPr marL="0" indent="0">
              <a:buNone/>
            </a:pPr>
            <a:r>
              <a:rPr lang="en-US" sz="1200" b="1" dirty="0">
                <a:solidFill>
                  <a:srgbClr val="02C39A"/>
                </a:solidFill>
                <a:latin typeface="Trebuchet MS" pitchFamily="34" charset="0"/>
                <a:ea typeface="Trebuchet MS" pitchFamily="34" charset="-122"/>
                <a:cs typeface="Trebuchet MS" pitchFamily="34" charset="-120"/>
              </a:rPr>
              <a:t>Projected Savings Estimation</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4069080"/>
          <a:ext cx="8229600" cy="97536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0">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Horizon</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Cost Reduction</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Based On</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extLst>
                  <a:ext uri="{0D108BD9-81ED-4DB2-BD59-A6C34878D82A}">
                    <a16:rowId xmlns:a16="http://schemas.microsoft.com/office/drawing/2014/main" val="10000"/>
                  </a:ext>
                </a:extLst>
              </a:tr>
              <a:tr h="0">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Daily</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₹15 – ₹25</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LP optimization on 24h forecast</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extLst>
                  <a:ext uri="{0D108BD9-81ED-4DB2-BD59-A6C34878D82A}">
                    <a16:rowId xmlns:a16="http://schemas.microsoft.com/office/drawing/2014/main" val="10001"/>
                  </a:ext>
                </a:extLst>
              </a:tr>
              <a:tr h="0">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Monthly</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₹450 – ₹750</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30 × daily savings (avg household)</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extLst>
                  <a:ext uri="{0D108BD9-81ED-4DB2-BD59-A6C34878D82A}">
                    <a16:rowId xmlns:a16="http://schemas.microsoft.com/office/drawing/2014/main" val="10002"/>
                  </a:ext>
                </a:extLst>
              </a:tr>
              <a:tr h="0">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Yearly</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₹5,400 – ₹9,000</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tc>
                  <a:txBody>
                    <a:bodyPr/>
                    <a:lstStyle/>
                    <a:p>
                      <a:pPr marL="0" indent="0">
                        <a:buNone/>
                      </a:pPr>
                      <a:r>
                        <a:rPr lang="en-US" sz="1000" dirty="0">
                          <a:solidFill>
                            <a:srgbClr val="FFFFFF"/>
                          </a:solidFill>
                          <a:latin typeface="Trebuchet MS" pitchFamily="34" charset="0"/>
                          <a:ea typeface="Trebuchet MS" pitchFamily="34" charset="-122"/>
                          <a:cs typeface="Trebuchet MS" pitchFamily="34" charset="-120"/>
                        </a:rPr>
                        <a:t>Conservative 20% flex fraction model</a:t>
                      </a:r>
                      <a:endParaRPr lang="en-US" sz="1000" dirty="0">
                        <a:latin typeface="Trebuchet MS" charset="0"/>
                        <a:ea typeface="Trebuchet MS" charset="0"/>
                        <a:cs typeface="Trebuchet MS" charset="0"/>
                      </a:endParaRPr>
                    </a:p>
                  </a:txBody>
                  <a:tcPr>
                    <a:lnL w="6350" cap="flat" cmpd="sng" algn="ctr">
                      <a:solidFill>
                        <a:srgbClr val="0D9488"/>
                      </a:solidFill>
                      <a:prstDash val="solid"/>
                      <a:round/>
                      <a:headEnd type="none" w="med" len="med"/>
                      <a:tailEnd type="none" w="med" len="med"/>
                    </a:lnL>
                    <a:lnR w="6350" cap="flat" cmpd="sng" algn="ctr">
                      <a:solidFill>
                        <a:srgbClr val="0D9488"/>
                      </a:solidFill>
                      <a:prstDash val="solid"/>
                      <a:round/>
                      <a:headEnd type="none" w="med" len="med"/>
                      <a:tailEnd type="none" w="med" len="med"/>
                    </a:lnR>
                    <a:lnT w="6350" cap="flat" cmpd="sng" algn="ctr">
                      <a:solidFill>
                        <a:srgbClr val="0D9488"/>
                      </a:solidFill>
                      <a:prstDash val="solid"/>
                      <a:round/>
                      <a:headEnd type="none" w="med" len="med"/>
                      <a:tailEnd type="none" w="med" len="med"/>
                    </a:lnT>
                    <a:lnB w="6350" cap="flat" cmpd="sng" algn="ctr">
                      <a:solidFill>
                        <a:srgbClr val="0D9488"/>
                      </a:solidFill>
                      <a:prstDash val="solid"/>
                      <a:round/>
                      <a:headEnd type="none" w="med" len="med"/>
                      <a:tailEnd type="none" w="med" len="med"/>
                    </a:lnB>
                    <a:solidFill>
                      <a:srgbClr val="163354"/>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254726" y="82296"/>
            <a:ext cx="2161902" cy="420624"/>
          </a:xfrm>
          <a:prstGeom prst="roundRect">
            <a:avLst>
              <a:gd name="adj" fmla="val 21429"/>
            </a:avLst>
          </a:prstGeom>
          <a:solidFill>
            <a:srgbClr val="0A7C6E"/>
          </a:solidFill>
          <a:ln w="12700">
            <a:solidFill>
              <a:srgbClr val="0A7C6E"/>
            </a:solidFill>
            <a:prstDash val="solid"/>
          </a:ln>
        </p:spPr>
      </p:sp>
      <p:sp>
        <p:nvSpPr>
          <p:cNvPr id="3" name="Text 1"/>
          <p:cNvSpPr/>
          <p:nvPr/>
        </p:nvSpPr>
        <p:spPr>
          <a:xfrm>
            <a:off x="254726" y="82297"/>
            <a:ext cx="2161902" cy="420622"/>
          </a:xfrm>
          <a:prstGeom prst="rect">
            <a:avLst/>
          </a:prstGeom>
          <a:noFill/>
          <a:ln/>
        </p:spPr>
        <p:txBody>
          <a:bodyPr wrap="square" lIns="0" tIns="0" rIns="0" bIns="0" rtlCol="0" anchor="ctr"/>
          <a:lstStyle/>
          <a:p>
            <a:pPr marL="0" indent="0" algn="ctr">
              <a:buNone/>
            </a:pPr>
            <a:r>
              <a:rPr lang="en-US" sz="1100" b="1" kern="0" spc="200" dirty="0">
                <a:solidFill>
                  <a:srgbClr val="FFFFFF"/>
                </a:solidFill>
              </a:rPr>
              <a:t>CHALLENGES &amp; LEARNINGS</a:t>
            </a:r>
            <a:endParaRPr lang="en-US" sz="1100" dirty="0"/>
          </a:p>
        </p:txBody>
      </p:sp>
      <p:sp>
        <p:nvSpPr>
          <p:cNvPr id="4" name="Text 2"/>
          <p:cNvSpPr/>
          <p:nvPr/>
        </p:nvSpPr>
        <p:spPr>
          <a:xfrm>
            <a:off x="365760" y="502920"/>
            <a:ext cx="8412480" cy="475488"/>
          </a:xfrm>
          <a:prstGeom prst="rect">
            <a:avLst/>
          </a:prstGeom>
          <a:noFill/>
          <a:ln/>
        </p:spPr>
        <p:txBody>
          <a:bodyPr wrap="square" lIns="0" tIns="0" rIns="0" bIns="0" rtlCol="0" anchor="ctr"/>
          <a:lstStyle/>
          <a:p>
            <a:pPr marL="0" indent="0">
              <a:buNone/>
            </a:pPr>
            <a:r>
              <a:rPr lang="en-US" sz="2600" b="1" dirty="0">
                <a:solidFill>
                  <a:srgbClr val="0D1B2A"/>
                </a:solidFill>
                <a:latin typeface="Trebuchet MS" pitchFamily="34" charset="0"/>
                <a:ea typeface="Trebuchet MS" pitchFamily="34" charset="-122"/>
                <a:cs typeface="Trebuchet MS" pitchFamily="34" charset="-120"/>
              </a:rPr>
              <a:t>What Made This Project Hard — And Rewarding</a:t>
            </a:r>
            <a:endParaRPr lang="en-US" sz="2600" dirty="0"/>
          </a:p>
        </p:txBody>
      </p:sp>
      <p:sp>
        <p:nvSpPr>
          <p:cNvPr id="5" name="Shape 3"/>
          <p:cNvSpPr/>
          <p:nvPr/>
        </p:nvSpPr>
        <p:spPr>
          <a:xfrm>
            <a:off x="365760" y="1024128"/>
            <a:ext cx="8412480" cy="0"/>
          </a:xfrm>
          <a:prstGeom prst="line">
            <a:avLst/>
          </a:prstGeom>
          <a:noFill/>
          <a:ln w="12700">
            <a:solidFill>
              <a:srgbClr val="E2E8F0"/>
            </a:solidFill>
            <a:prstDash val="solid"/>
          </a:ln>
        </p:spPr>
      </p:sp>
      <p:sp>
        <p:nvSpPr>
          <p:cNvPr id="6" name="Shape 4"/>
          <p:cNvSpPr/>
          <p:nvPr/>
        </p:nvSpPr>
        <p:spPr>
          <a:xfrm>
            <a:off x="365760" y="1188720"/>
            <a:ext cx="4114800" cy="11155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7" name="Shape 5"/>
          <p:cNvSpPr/>
          <p:nvPr/>
        </p:nvSpPr>
        <p:spPr>
          <a:xfrm>
            <a:off x="365760" y="1188720"/>
            <a:ext cx="91440" cy="1115568"/>
          </a:xfrm>
          <a:prstGeom prst="rect">
            <a:avLst/>
          </a:prstGeom>
          <a:solidFill>
            <a:srgbClr val="0A7C6E"/>
          </a:solidFill>
          <a:ln w="12700">
            <a:solidFill>
              <a:srgbClr val="0A7C6E"/>
            </a:solidFill>
            <a:prstDash val="solid"/>
          </a:ln>
        </p:spPr>
      </p:sp>
      <p:pic>
        <p:nvPicPr>
          <p:cNvPr id="8" name="Image 0" descr="preencoded.png"/>
          <p:cNvPicPr>
            <a:picLocks noChangeAspect="1"/>
          </p:cNvPicPr>
          <p:nvPr/>
        </p:nvPicPr>
        <p:blipFill>
          <a:blip r:embed="rId3"/>
          <a:stretch>
            <a:fillRect/>
          </a:stretch>
        </p:blipFill>
        <p:spPr>
          <a:xfrm>
            <a:off x="548640" y="1316736"/>
            <a:ext cx="347472" cy="347472"/>
          </a:xfrm>
          <a:prstGeom prst="rect">
            <a:avLst/>
          </a:prstGeom>
          <a:solidFill>
            <a:schemeClr val="tx1"/>
          </a:solidFill>
        </p:spPr>
      </p:pic>
      <p:sp>
        <p:nvSpPr>
          <p:cNvPr id="9" name="Text 6"/>
          <p:cNvSpPr/>
          <p:nvPr/>
        </p:nvSpPr>
        <p:spPr>
          <a:xfrm>
            <a:off x="1005840" y="1280160"/>
            <a:ext cx="3337560" cy="292608"/>
          </a:xfrm>
          <a:prstGeom prst="rect">
            <a:avLst/>
          </a:prstGeom>
          <a:noFill/>
          <a:ln/>
        </p:spPr>
        <p:txBody>
          <a:bodyPr wrap="square" lIns="0" tIns="0" rIns="0" bIns="0" rtlCol="0" anchor="ctr"/>
          <a:lstStyle/>
          <a:p>
            <a:pPr marL="0" indent="0">
              <a:buNone/>
            </a:pPr>
            <a:r>
              <a:rPr lang="en-US" sz="1150" b="1" dirty="0">
                <a:solidFill>
                  <a:srgbClr val="1E293B"/>
                </a:solidFill>
                <a:latin typeface="Trebuchet MS" pitchFamily="34" charset="0"/>
                <a:ea typeface="Trebuchet MS" pitchFamily="34" charset="-122"/>
                <a:cs typeface="Trebuchet MS" pitchFamily="34" charset="-120"/>
              </a:rPr>
              <a:t>Feature Engineering for Time-Series</a:t>
            </a:r>
            <a:endParaRPr lang="en-US" sz="1150" dirty="0"/>
          </a:p>
        </p:txBody>
      </p:sp>
      <p:sp>
        <p:nvSpPr>
          <p:cNvPr id="10" name="Text 7"/>
          <p:cNvSpPr/>
          <p:nvPr/>
        </p:nvSpPr>
        <p:spPr>
          <a:xfrm>
            <a:off x="1005840" y="1609344"/>
            <a:ext cx="3337560" cy="621792"/>
          </a:xfrm>
          <a:prstGeom prst="rect">
            <a:avLst/>
          </a:prstGeom>
          <a:noFill/>
          <a:ln/>
        </p:spPr>
        <p:txBody>
          <a:bodyPr wrap="square" lIns="0" tIns="0" rIns="0" bIns="0" rtlCol="0" anchor="ctr"/>
          <a:lstStyle/>
          <a:p>
            <a:pPr marL="0" indent="0">
              <a:buNone/>
            </a:pPr>
            <a:r>
              <a:rPr lang="en-US" sz="950" dirty="0">
                <a:solidFill>
                  <a:srgbClr val="64748B"/>
                </a:solidFill>
                <a:latin typeface="Trebuchet MS" pitchFamily="34" charset="0"/>
                <a:ea typeface="Trebuchet MS" pitchFamily="34" charset="-122"/>
                <a:cs typeface="Trebuchet MS" pitchFamily="34" charset="-120"/>
              </a:rPr>
              <a:t>Cyclical encoding (sin/cos), lag features, rolling stats with shift(1) to prevent leakage — every detail mattered.</a:t>
            </a:r>
            <a:endParaRPr lang="en-US" sz="950" dirty="0"/>
          </a:p>
        </p:txBody>
      </p:sp>
      <p:sp>
        <p:nvSpPr>
          <p:cNvPr id="11" name="Shape 8"/>
          <p:cNvSpPr/>
          <p:nvPr/>
        </p:nvSpPr>
        <p:spPr>
          <a:xfrm>
            <a:off x="4663440" y="1188720"/>
            <a:ext cx="4114800" cy="11155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2" name="Shape 9"/>
          <p:cNvSpPr/>
          <p:nvPr/>
        </p:nvSpPr>
        <p:spPr>
          <a:xfrm>
            <a:off x="4663440" y="1188720"/>
            <a:ext cx="91440" cy="1115568"/>
          </a:xfrm>
          <a:prstGeom prst="rect">
            <a:avLst/>
          </a:prstGeom>
          <a:solidFill>
            <a:srgbClr val="0A7C6E"/>
          </a:solidFill>
          <a:ln w="12700">
            <a:solidFill>
              <a:srgbClr val="0A7C6E"/>
            </a:solidFill>
            <a:prstDash val="solid"/>
          </a:ln>
        </p:spPr>
      </p:sp>
      <p:pic>
        <p:nvPicPr>
          <p:cNvPr id="13" name="Image 1" descr="preencoded.png"/>
          <p:cNvPicPr>
            <a:picLocks noChangeAspect="1"/>
          </p:cNvPicPr>
          <p:nvPr/>
        </p:nvPicPr>
        <p:blipFill>
          <a:blip r:embed="rId4"/>
          <a:stretch>
            <a:fillRect/>
          </a:stretch>
        </p:blipFill>
        <p:spPr>
          <a:xfrm>
            <a:off x="4846320" y="1316736"/>
            <a:ext cx="347472" cy="347472"/>
          </a:xfrm>
          <a:prstGeom prst="rect">
            <a:avLst/>
          </a:prstGeom>
          <a:solidFill>
            <a:schemeClr val="tx1"/>
          </a:solidFill>
        </p:spPr>
      </p:pic>
      <p:sp>
        <p:nvSpPr>
          <p:cNvPr id="14" name="Text 10"/>
          <p:cNvSpPr/>
          <p:nvPr/>
        </p:nvSpPr>
        <p:spPr>
          <a:xfrm>
            <a:off x="5303520" y="1280160"/>
            <a:ext cx="3337560" cy="292608"/>
          </a:xfrm>
          <a:prstGeom prst="rect">
            <a:avLst/>
          </a:prstGeom>
          <a:noFill/>
          <a:ln/>
        </p:spPr>
        <p:txBody>
          <a:bodyPr wrap="square" lIns="0" tIns="0" rIns="0" bIns="0" rtlCol="0" anchor="ctr"/>
          <a:lstStyle/>
          <a:p>
            <a:pPr marL="0" indent="0">
              <a:buNone/>
            </a:pPr>
            <a:r>
              <a:rPr lang="en-US" sz="1150" b="1" dirty="0">
                <a:solidFill>
                  <a:srgbClr val="1E293B"/>
                </a:solidFill>
                <a:latin typeface="Trebuchet MS" pitchFamily="34" charset="0"/>
                <a:ea typeface="Trebuchet MS" pitchFamily="34" charset="-122"/>
                <a:cs typeface="Trebuchet MS" pitchFamily="34" charset="-120"/>
              </a:rPr>
              <a:t>Avoiding Data Leakage</a:t>
            </a:r>
            <a:endParaRPr lang="en-US" sz="1150" dirty="0"/>
          </a:p>
        </p:txBody>
      </p:sp>
      <p:sp>
        <p:nvSpPr>
          <p:cNvPr id="15" name="Text 11"/>
          <p:cNvSpPr/>
          <p:nvPr/>
        </p:nvSpPr>
        <p:spPr>
          <a:xfrm>
            <a:off x="5303520" y="1609344"/>
            <a:ext cx="3337560" cy="621792"/>
          </a:xfrm>
          <a:prstGeom prst="rect">
            <a:avLst/>
          </a:prstGeom>
          <a:noFill/>
          <a:ln/>
        </p:spPr>
        <p:txBody>
          <a:bodyPr wrap="square" lIns="0" tIns="0" rIns="0" bIns="0" rtlCol="0" anchor="ctr"/>
          <a:lstStyle/>
          <a:p>
            <a:pPr marL="0" indent="0">
              <a:buNone/>
            </a:pPr>
            <a:r>
              <a:rPr lang="en-US" sz="950" dirty="0">
                <a:solidFill>
                  <a:srgbClr val="64748B"/>
                </a:solidFill>
                <a:latin typeface="Trebuchet MS" pitchFamily="34" charset="0"/>
                <a:ea typeface="Trebuchet MS" pitchFamily="34" charset="-122"/>
                <a:cs typeface="Trebuchet MS" pitchFamily="34" charset="-120"/>
              </a:rPr>
              <a:t>Temporal splits, scaler fitted on train only, rolling windows shifted by 1 — a single mistake invalidates all metrics.</a:t>
            </a:r>
            <a:endParaRPr lang="en-US" sz="950" dirty="0"/>
          </a:p>
        </p:txBody>
      </p:sp>
      <p:sp>
        <p:nvSpPr>
          <p:cNvPr id="16" name="Shape 12"/>
          <p:cNvSpPr/>
          <p:nvPr/>
        </p:nvSpPr>
        <p:spPr>
          <a:xfrm>
            <a:off x="365760" y="2468880"/>
            <a:ext cx="4114800" cy="11155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17" name="Shape 13"/>
          <p:cNvSpPr/>
          <p:nvPr/>
        </p:nvSpPr>
        <p:spPr>
          <a:xfrm>
            <a:off x="365760" y="2468880"/>
            <a:ext cx="91440" cy="1115568"/>
          </a:xfrm>
          <a:prstGeom prst="rect">
            <a:avLst/>
          </a:prstGeom>
          <a:solidFill>
            <a:srgbClr val="0A7C6E"/>
          </a:solidFill>
          <a:ln w="12700">
            <a:solidFill>
              <a:srgbClr val="0A7C6E"/>
            </a:solidFill>
            <a:prstDash val="solid"/>
          </a:ln>
        </p:spPr>
      </p:sp>
      <p:pic>
        <p:nvPicPr>
          <p:cNvPr id="18" name="Image 2" descr="preencoded.png"/>
          <p:cNvPicPr>
            <a:picLocks noChangeAspect="1"/>
          </p:cNvPicPr>
          <p:nvPr/>
        </p:nvPicPr>
        <p:blipFill>
          <a:blip r:embed="rId5"/>
          <a:stretch>
            <a:fillRect/>
          </a:stretch>
        </p:blipFill>
        <p:spPr>
          <a:xfrm>
            <a:off x="548640" y="2596896"/>
            <a:ext cx="347472" cy="347472"/>
          </a:xfrm>
          <a:prstGeom prst="rect">
            <a:avLst/>
          </a:prstGeom>
          <a:solidFill>
            <a:schemeClr val="tx1"/>
          </a:solidFill>
        </p:spPr>
      </p:pic>
      <p:sp>
        <p:nvSpPr>
          <p:cNvPr id="19" name="Text 14"/>
          <p:cNvSpPr/>
          <p:nvPr/>
        </p:nvSpPr>
        <p:spPr>
          <a:xfrm>
            <a:off x="1005840" y="2560320"/>
            <a:ext cx="3337560" cy="292608"/>
          </a:xfrm>
          <a:prstGeom prst="rect">
            <a:avLst/>
          </a:prstGeom>
          <a:noFill/>
          <a:ln/>
        </p:spPr>
        <p:txBody>
          <a:bodyPr wrap="square" lIns="0" tIns="0" rIns="0" bIns="0" rtlCol="0" anchor="ctr"/>
          <a:lstStyle/>
          <a:p>
            <a:pPr marL="0" indent="0">
              <a:buNone/>
            </a:pPr>
            <a:r>
              <a:rPr lang="en-US" sz="1150" b="1" dirty="0">
                <a:solidFill>
                  <a:srgbClr val="1E293B"/>
                </a:solidFill>
                <a:latin typeface="Trebuchet MS" pitchFamily="34" charset="0"/>
                <a:ea typeface="Trebuchet MS" pitchFamily="34" charset="-122"/>
                <a:cs typeface="Trebuchet MS" pitchFamily="34" charset="-120"/>
              </a:rPr>
              <a:t>Balancing Precision vs Recall</a:t>
            </a:r>
            <a:endParaRPr lang="en-US" sz="1150" dirty="0"/>
          </a:p>
        </p:txBody>
      </p:sp>
      <p:sp>
        <p:nvSpPr>
          <p:cNvPr id="20" name="Text 15"/>
          <p:cNvSpPr/>
          <p:nvPr/>
        </p:nvSpPr>
        <p:spPr>
          <a:xfrm>
            <a:off x="1005840" y="2889504"/>
            <a:ext cx="3337560" cy="621792"/>
          </a:xfrm>
          <a:prstGeom prst="rect">
            <a:avLst/>
          </a:prstGeom>
          <a:noFill/>
          <a:ln/>
        </p:spPr>
        <p:txBody>
          <a:bodyPr wrap="square" lIns="0" tIns="0" rIns="0" bIns="0" rtlCol="0" anchor="ctr"/>
          <a:lstStyle/>
          <a:p>
            <a:pPr marL="0" indent="0">
              <a:buNone/>
            </a:pPr>
            <a:r>
              <a:rPr lang="en-US" sz="950" dirty="0">
                <a:solidFill>
                  <a:srgbClr val="64748B"/>
                </a:solidFill>
                <a:latin typeface="Trebuchet MS" pitchFamily="34" charset="0"/>
                <a:ea typeface="Trebuchet MS" pitchFamily="34" charset="-122"/>
                <a:cs typeface="Trebuchet MS" pitchFamily="34" charset="-120"/>
              </a:rPr>
              <a:t>Six calibration iterations across AND/OR gate logic and contamination parameters to hit both targets simultaneously.</a:t>
            </a:r>
            <a:endParaRPr lang="en-US" sz="950" dirty="0"/>
          </a:p>
        </p:txBody>
      </p:sp>
      <p:sp>
        <p:nvSpPr>
          <p:cNvPr id="21" name="Shape 16"/>
          <p:cNvSpPr/>
          <p:nvPr/>
        </p:nvSpPr>
        <p:spPr>
          <a:xfrm>
            <a:off x="4663440" y="2468880"/>
            <a:ext cx="4114800" cy="11155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2" name="Shape 17"/>
          <p:cNvSpPr/>
          <p:nvPr/>
        </p:nvSpPr>
        <p:spPr>
          <a:xfrm>
            <a:off x="4663440" y="2468880"/>
            <a:ext cx="91440" cy="1115568"/>
          </a:xfrm>
          <a:prstGeom prst="rect">
            <a:avLst/>
          </a:prstGeom>
          <a:solidFill>
            <a:srgbClr val="0A7C6E"/>
          </a:solidFill>
          <a:ln w="12700">
            <a:solidFill>
              <a:srgbClr val="0A7C6E"/>
            </a:solidFill>
            <a:prstDash val="solid"/>
          </a:ln>
        </p:spPr>
      </p:sp>
      <p:pic>
        <p:nvPicPr>
          <p:cNvPr id="23" name="Image 3" descr="preencoded.png"/>
          <p:cNvPicPr>
            <a:picLocks noChangeAspect="1"/>
          </p:cNvPicPr>
          <p:nvPr/>
        </p:nvPicPr>
        <p:blipFill>
          <a:blip r:embed="rId6"/>
          <a:stretch>
            <a:fillRect/>
          </a:stretch>
        </p:blipFill>
        <p:spPr>
          <a:xfrm>
            <a:off x="4846320" y="2596896"/>
            <a:ext cx="347472" cy="347472"/>
          </a:xfrm>
          <a:prstGeom prst="rect">
            <a:avLst/>
          </a:prstGeom>
          <a:solidFill>
            <a:schemeClr val="tx1"/>
          </a:solidFill>
        </p:spPr>
      </p:pic>
      <p:sp>
        <p:nvSpPr>
          <p:cNvPr id="24" name="Text 18"/>
          <p:cNvSpPr/>
          <p:nvPr/>
        </p:nvSpPr>
        <p:spPr>
          <a:xfrm>
            <a:off x="5303520" y="2560320"/>
            <a:ext cx="3337560" cy="292608"/>
          </a:xfrm>
          <a:prstGeom prst="rect">
            <a:avLst/>
          </a:prstGeom>
          <a:noFill/>
          <a:ln/>
        </p:spPr>
        <p:txBody>
          <a:bodyPr wrap="square" lIns="0" tIns="0" rIns="0" bIns="0" rtlCol="0" anchor="ctr"/>
          <a:lstStyle/>
          <a:p>
            <a:pPr marL="0" indent="0">
              <a:buNone/>
            </a:pPr>
            <a:r>
              <a:rPr lang="en-US" sz="1150" b="1" dirty="0">
                <a:solidFill>
                  <a:srgbClr val="1E293B"/>
                </a:solidFill>
                <a:latin typeface="Trebuchet MS" pitchFamily="34" charset="0"/>
                <a:ea typeface="Trebuchet MS" pitchFamily="34" charset="-122"/>
                <a:cs typeface="Trebuchet MS" pitchFamily="34" charset="-120"/>
              </a:rPr>
              <a:t>ML ↔ Real-Time API Integration</a:t>
            </a:r>
            <a:endParaRPr lang="en-US" sz="1150" dirty="0"/>
          </a:p>
        </p:txBody>
      </p:sp>
      <p:sp>
        <p:nvSpPr>
          <p:cNvPr id="25" name="Text 19"/>
          <p:cNvSpPr/>
          <p:nvPr/>
        </p:nvSpPr>
        <p:spPr>
          <a:xfrm>
            <a:off x="5303520" y="2889504"/>
            <a:ext cx="3337560" cy="621792"/>
          </a:xfrm>
          <a:prstGeom prst="rect">
            <a:avLst/>
          </a:prstGeom>
          <a:noFill/>
          <a:ln/>
        </p:spPr>
        <p:txBody>
          <a:bodyPr wrap="square" lIns="0" tIns="0" rIns="0" bIns="0" rtlCol="0" anchor="ctr"/>
          <a:lstStyle/>
          <a:p>
            <a:pPr marL="0" indent="0">
              <a:buNone/>
            </a:pPr>
            <a:r>
              <a:rPr lang="en-US" sz="950" dirty="0">
                <a:solidFill>
                  <a:srgbClr val="64748B"/>
                </a:solidFill>
                <a:latin typeface="Trebuchet MS" pitchFamily="34" charset="0"/>
                <a:ea typeface="Trebuchet MS" pitchFamily="34" charset="-122"/>
                <a:cs typeface="Trebuchet MS" pitchFamily="34" charset="-120"/>
              </a:rPr>
              <a:t>Replacing pandas DataFrames with a deque-based StateBuffer for O(1) inference without training-time libraries locally.</a:t>
            </a:r>
            <a:endParaRPr lang="en-US" sz="950" dirty="0"/>
          </a:p>
        </p:txBody>
      </p:sp>
      <p:sp>
        <p:nvSpPr>
          <p:cNvPr id="26" name="Shape 20"/>
          <p:cNvSpPr/>
          <p:nvPr/>
        </p:nvSpPr>
        <p:spPr>
          <a:xfrm>
            <a:off x="365760" y="3749040"/>
            <a:ext cx="4114800" cy="11155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27" name="Shape 21"/>
          <p:cNvSpPr/>
          <p:nvPr/>
        </p:nvSpPr>
        <p:spPr>
          <a:xfrm>
            <a:off x="365760" y="3749040"/>
            <a:ext cx="91440" cy="1115568"/>
          </a:xfrm>
          <a:prstGeom prst="rect">
            <a:avLst/>
          </a:prstGeom>
          <a:solidFill>
            <a:srgbClr val="0A7C6E"/>
          </a:solidFill>
          <a:ln w="12700">
            <a:solidFill>
              <a:srgbClr val="0A7C6E"/>
            </a:solidFill>
            <a:prstDash val="solid"/>
          </a:ln>
        </p:spPr>
      </p:sp>
      <p:pic>
        <p:nvPicPr>
          <p:cNvPr id="28" name="Image 4" descr="preencoded.png"/>
          <p:cNvPicPr>
            <a:picLocks noChangeAspect="1"/>
          </p:cNvPicPr>
          <p:nvPr/>
        </p:nvPicPr>
        <p:blipFill>
          <a:blip r:embed="rId7"/>
          <a:stretch>
            <a:fillRect/>
          </a:stretch>
        </p:blipFill>
        <p:spPr>
          <a:xfrm>
            <a:off x="548640" y="3877056"/>
            <a:ext cx="347472" cy="347472"/>
          </a:xfrm>
          <a:prstGeom prst="rect">
            <a:avLst/>
          </a:prstGeom>
          <a:solidFill>
            <a:schemeClr val="tx1"/>
          </a:solidFill>
        </p:spPr>
      </p:pic>
      <p:sp>
        <p:nvSpPr>
          <p:cNvPr id="29" name="Text 22"/>
          <p:cNvSpPr/>
          <p:nvPr/>
        </p:nvSpPr>
        <p:spPr>
          <a:xfrm>
            <a:off x="1005840" y="3840480"/>
            <a:ext cx="3337560" cy="292608"/>
          </a:xfrm>
          <a:prstGeom prst="rect">
            <a:avLst/>
          </a:prstGeom>
          <a:noFill/>
          <a:ln/>
        </p:spPr>
        <p:txBody>
          <a:bodyPr wrap="square" lIns="0" tIns="0" rIns="0" bIns="0" rtlCol="0" anchor="ctr"/>
          <a:lstStyle/>
          <a:p>
            <a:pPr marL="0" indent="0">
              <a:buNone/>
            </a:pPr>
            <a:r>
              <a:rPr lang="en-US" sz="1150" b="1" dirty="0">
                <a:solidFill>
                  <a:srgbClr val="1E293B"/>
                </a:solidFill>
                <a:latin typeface="Trebuchet MS" pitchFamily="34" charset="0"/>
                <a:ea typeface="Trebuchet MS" pitchFamily="34" charset="-122"/>
                <a:cs typeface="Trebuchet MS" pitchFamily="34" charset="-120"/>
              </a:rPr>
              <a:t>LP Optimization Explainability</a:t>
            </a:r>
            <a:endParaRPr lang="en-US" sz="1150" dirty="0"/>
          </a:p>
        </p:txBody>
      </p:sp>
      <p:sp>
        <p:nvSpPr>
          <p:cNvPr id="30" name="Text 23"/>
          <p:cNvSpPr/>
          <p:nvPr/>
        </p:nvSpPr>
        <p:spPr>
          <a:xfrm>
            <a:off x="1005840" y="4169664"/>
            <a:ext cx="3337560" cy="621792"/>
          </a:xfrm>
          <a:prstGeom prst="rect">
            <a:avLst/>
          </a:prstGeom>
          <a:noFill/>
          <a:ln/>
        </p:spPr>
        <p:txBody>
          <a:bodyPr wrap="square" lIns="0" tIns="0" rIns="0" bIns="0" rtlCol="0" anchor="ctr"/>
          <a:lstStyle/>
          <a:p>
            <a:pPr marL="0" indent="0">
              <a:buNone/>
            </a:pPr>
            <a:r>
              <a:rPr lang="en-US" sz="950" dirty="0">
                <a:solidFill>
                  <a:srgbClr val="64748B"/>
                </a:solidFill>
                <a:latin typeface="Trebuchet MS" pitchFamily="34" charset="0"/>
                <a:ea typeface="Trebuchet MS" pitchFamily="34" charset="-122"/>
                <a:cs typeface="Trebuchet MS" pitchFamily="34" charset="-120"/>
              </a:rPr>
              <a:t>Translating abstract LP outputs (load vectors) into human-readable ₹-savings recommendations in the dashboard.</a:t>
            </a:r>
            <a:endParaRPr lang="en-US" sz="950" dirty="0"/>
          </a:p>
        </p:txBody>
      </p:sp>
      <p:sp>
        <p:nvSpPr>
          <p:cNvPr id="31" name="Shape 24"/>
          <p:cNvSpPr/>
          <p:nvPr/>
        </p:nvSpPr>
        <p:spPr>
          <a:xfrm>
            <a:off x="4663440" y="3749040"/>
            <a:ext cx="4114800" cy="1115568"/>
          </a:xfrm>
          <a:prstGeom prst="rect">
            <a:avLst/>
          </a:prstGeom>
          <a:solidFill>
            <a:srgbClr val="FFFFFF"/>
          </a:solidFill>
          <a:ln w="12700">
            <a:solidFill>
              <a:srgbClr val="E2E8F0"/>
            </a:solidFill>
            <a:prstDash val="solid"/>
          </a:ln>
          <a:effectLst>
            <a:outerShdw blurRad="101600" dist="38100" dir="8100000" algn="bl" rotWithShape="0">
              <a:srgbClr val="000000">
                <a:alpha val="12000"/>
              </a:srgbClr>
            </a:outerShdw>
          </a:effectLst>
        </p:spPr>
      </p:sp>
      <p:sp>
        <p:nvSpPr>
          <p:cNvPr id="32" name="Shape 25"/>
          <p:cNvSpPr/>
          <p:nvPr/>
        </p:nvSpPr>
        <p:spPr>
          <a:xfrm>
            <a:off x="4663440" y="3749040"/>
            <a:ext cx="91440" cy="1115568"/>
          </a:xfrm>
          <a:prstGeom prst="rect">
            <a:avLst/>
          </a:prstGeom>
          <a:solidFill>
            <a:srgbClr val="0A7C6E"/>
          </a:solidFill>
          <a:ln w="12700">
            <a:solidFill>
              <a:srgbClr val="0A7C6E"/>
            </a:solidFill>
            <a:prstDash val="solid"/>
          </a:ln>
        </p:spPr>
      </p:sp>
      <p:pic>
        <p:nvPicPr>
          <p:cNvPr id="33" name="Image 5" descr="preencoded.png"/>
          <p:cNvPicPr>
            <a:picLocks noChangeAspect="1"/>
          </p:cNvPicPr>
          <p:nvPr/>
        </p:nvPicPr>
        <p:blipFill>
          <a:blip r:embed="rId8"/>
          <a:stretch>
            <a:fillRect/>
          </a:stretch>
        </p:blipFill>
        <p:spPr>
          <a:xfrm>
            <a:off x="4846320" y="3877056"/>
            <a:ext cx="347472" cy="347472"/>
          </a:xfrm>
          <a:prstGeom prst="rect">
            <a:avLst/>
          </a:prstGeom>
          <a:solidFill>
            <a:schemeClr val="tx1"/>
          </a:solidFill>
        </p:spPr>
      </p:pic>
      <p:sp>
        <p:nvSpPr>
          <p:cNvPr id="34" name="Text 26"/>
          <p:cNvSpPr/>
          <p:nvPr/>
        </p:nvSpPr>
        <p:spPr>
          <a:xfrm>
            <a:off x="5303520" y="3840480"/>
            <a:ext cx="3337560" cy="292608"/>
          </a:xfrm>
          <a:prstGeom prst="rect">
            <a:avLst/>
          </a:prstGeom>
          <a:noFill/>
          <a:ln/>
        </p:spPr>
        <p:txBody>
          <a:bodyPr wrap="square" lIns="0" tIns="0" rIns="0" bIns="0" rtlCol="0" anchor="ctr"/>
          <a:lstStyle/>
          <a:p>
            <a:pPr marL="0" indent="0">
              <a:buNone/>
            </a:pPr>
            <a:r>
              <a:rPr lang="en-US" sz="1150" b="1" dirty="0">
                <a:solidFill>
                  <a:srgbClr val="1E293B"/>
                </a:solidFill>
                <a:latin typeface="Trebuchet MS" pitchFamily="34" charset="0"/>
                <a:ea typeface="Trebuchet MS" pitchFamily="34" charset="-122"/>
                <a:cs typeface="Trebuchet MS" pitchFamily="34" charset="-120"/>
              </a:rPr>
              <a:t>Model Selection Without Bias</a:t>
            </a:r>
            <a:endParaRPr lang="en-US" sz="1150" dirty="0"/>
          </a:p>
        </p:txBody>
      </p:sp>
      <p:sp>
        <p:nvSpPr>
          <p:cNvPr id="35" name="Text 27"/>
          <p:cNvSpPr/>
          <p:nvPr/>
        </p:nvSpPr>
        <p:spPr>
          <a:xfrm>
            <a:off x="5303520" y="4169664"/>
            <a:ext cx="3337560" cy="621792"/>
          </a:xfrm>
          <a:prstGeom prst="rect">
            <a:avLst/>
          </a:prstGeom>
          <a:noFill/>
          <a:ln/>
        </p:spPr>
        <p:txBody>
          <a:bodyPr wrap="square" lIns="0" tIns="0" rIns="0" bIns="0" rtlCol="0" anchor="ctr"/>
          <a:lstStyle/>
          <a:p>
            <a:pPr marL="0" indent="0">
              <a:buNone/>
            </a:pPr>
            <a:r>
              <a:rPr lang="en-US" sz="950" dirty="0">
                <a:solidFill>
                  <a:srgbClr val="64748B"/>
                </a:solidFill>
                <a:latin typeface="Trebuchet MS" pitchFamily="34" charset="0"/>
                <a:ea typeface="Trebuchet MS" pitchFamily="34" charset="-122"/>
                <a:cs typeface="Trebuchet MS" pitchFamily="34" charset="-120"/>
              </a:rPr>
              <a:t>Hypothesized XGBoost — walk-forward CV proved LightGBM won. Sticking with evidence over assumption is real ML engineering.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365760" y="164592"/>
            <a:ext cx="8412480" cy="45720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Future Work</a:t>
            </a:r>
            <a:endParaRPr lang="en-US" sz="2600" dirty="0"/>
          </a:p>
        </p:txBody>
      </p:sp>
      <p:sp>
        <p:nvSpPr>
          <p:cNvPr id="3" name="Shape 1"/>
          <p:cNvSpPr/>
          <p:nvPr/>
        </p:nvSpPr>
        <p:spPr>
          <a:xfrm>
            <a:off x="365760" y="667512"/>
            <a:ext cx="8412480" cy="0"/>
          </a:xfrm>
          <a:prstGeom prst="line">
            <a:avLst/>
          </a:prstGeom>
          <a:noFill/>
          <a:ln w="25400">
            <a:solidFill>
              <a:srgbClr val="0A7C6E"/>
            </a:solidFill>
            <a:prstDash val="solid"/>
          </a:ln>
        </p:spPr>
      </p:sp>
      <p:sp>
        <p:nvSpPr>
          <p:cNvPr id="4" name="Shape 2"/>
          <p:cNvSpPr/>
          <p:nvPr/>
        </p:nvSpPr>
        <p:spPr>
          <a:xfrm>
            <a:off x="320040" y="2834640"/>
            <a:ext cx="2651760" cy="2011679"/>
          </a:xfrm>
          <a:prstGeom prst="rect">
            <a:avLst/>
          </a:prstGeom>
          <a:solidFill>
            <a:srgbClr val="0D2137"/>
          </a:solidFill>
          <a:ln w="12700">
            <a:solidFill>
              <a:srgbClr val="E2E8F0"/>
            </a:solidFill>
            <a:prstDash val="solid"/>
          </a:ln>
          <a:effectLst>
            <a:outerShdw blurRad="101600" dist="38100" dir="8100000" algn="bl" rotWithShape="0">
              <a:srgbClr val="000000">
                <a:alpha val="12000"/>
              </a:srgbClr>
            </a:outerShdw>
          </a:effectLst>
        </p:spPr>
      </p:sp>
      <p:sp>
        <p:nvSpPr>
          <p:cNvPr id="5" name="Shape 3"/>
          <p:cNvSpPr/>
          <p:nvPr/>
        </p:nvSpPr>
        <p:spPr>
          <a:xfrm>
            <a:off x="320040" y="2834641"/>
            <a:ext cx="2651760" cy="438912"/>
          </a:xfrm>
          <a:prstGeom prst="rect">
            <a:avLst/>
          </a:prstGeom>
          <a:solidFill>
            <a:srgbClr val="0A7C6E"/>
          </a:solidFill>
          <a:ln w="12700">
            <a:solidFill>
              <a:srgbClr val="0A7C6E"/>
            </a:solidFill>
            <a:prstDash val="solid"/>
          </a:ln>
        </p:spPr>
      </p:sp>
      <p:sp>
        <p:nvSpPr>
          <p:cNvPr id="6" name="Text 4"/>
          <p:cNvSpPr/>
          <p:nvPr/>
        </p:nvSpPr>
        <p:spPr>
          <a:xfrm>
            <a:off x="320040" y="2834641"/>
            <a:ext cx="2651760"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Near-Term</a:t>
            </a:r>
            <a:endParaRPr lang="en-US" sz="1300" dirty="0"/>
          </a:p>
        </p:txBody>
      </p:sp>
      <p:sp>
        <p:nvSpPr>
          <p:cNvPr id="7" name="Text 5"/>
          <p:cNvSpPr/>
          <p:nvPr/>
        </p:nvSpPr>
        <p:spPr>
          <a:xfrm>
            <a:off x="457200" y="3429000"/>
            <a:ext cx="2377440" cy="1188720"/>
          </a:xfrm>
          <a:prstGeom prst="rect">
            <a:avLst/>
          </a:prstGeom>
          <a:noFill/>
          <a:ln/>
        </p:spPr>
        <p:txBody>
          <a:bodyPr wrap="square" lIns="0" tIns="0" rIns="0" bIns="0" rtlCol="0" anchor="ctr"/>
          <a:lstStyle/>
          <a:p>
            <a:pPr marL="342900" indent="-342900">
              <a:spcAft>
                <a:spcPts val="1400"/>
              </a:spcAft>
              <a:buSzPct val="100000"/>
              <a:buChar char="•"/>
            </a:pPr>
            <a:r>
              <a:rPr lang="en-US" sz="1100" dirty="0">
                <a:solidFill>
                  <a:srgbClr val="B2E8E0"/>
                </a:solidFill>
                <a:latin typeface="Trebuchet MS" pitchFamily="34" charset="0"/>
                <a:ea typeface="Trebuchet MS" pitchFamily="34" charset="-122"/>
                <a:cs typeface="Trebuchet MS" pitchFamily="34" charset="-120"/>
              </a:rPr>
              <a:t>SHAP explainability for individual predictions</a:t>
            </a:r>
            <a:endParaRPr lang="en-US" sz="1100" dirty="0"/>
          </a:p>
          <a:p>
            <a:pPr marL="342900" indent="-342900">
              <a:spcAft>
                <a:spcPts val="1400"/>
              </a:spcAft>
              <a:buSzPct val="100000"/>
              <a:buChar char="•"/>
            </a:pPr>
            <a:r>
              <a:rPr lang="en-US" sz="1100" dirty="0">
                <a:solidFill>
                  <a:srgbClr val="B2E8E0"/>
                </a:solidFill>
                <a:latin typeface="Trebuchet MS" pitchFamily="34" charset="0"/>
                <a:ea typeface="Trebuchet MS" pitchFamily="34" charset="-122"/>
                <a:cs typeface="Trebuchet MS" pitchFamily="34" charset="-120"/>
              </a:rPr>
              <a:t>Docker containerization with docker-compose</a:t>
            </a:r>
            <a:endParaRPr lang="en-US" sz="1100" dirty="0"/>
          </a:p>
          <a:p>
            <a:pPr marL="342900" indent="-342900">
              <a:spcAft>
                <a:spcPts val="1400"/>
              </a:spcAft>
              <a:buSzPct val="100000"/>
              <a:buChar char="•"/>
            </a:pPr>
            <a:r>
              <a:rPr lang="en-US" sz="1100" dirty="0">
                <a:solidFill>
                  <a:srgbClr val="B2E8E0"/>
                </a:solidFill>
                <a:latin typeface="Trebuchet MS" pitchFamily="34" charset="0"/>
                <a:ea typeface="Trebuchet MS" pitchFamily="34" charset="-122"/>
                <a:cs typeface="Trebuchet MS" pitchFamily="34" charset="-120"/>
              </a:rPr>
              <a:t>Drift detection + automated retraining pipeline</a:t>
            </a:r>
            <a:endParaRPr lang="en-US" sz="1100" dirty="0"/>
          </a:p>
        </p:txBody>
      </p:sp>
      <p:sp>
        <p:nvSpPr>
          <p:cNvPr id="8" name="Shape 6"/>
          <p:cNvSpPr/>
          <p:nvPr/>
        </p:nvSpPr>
        <p:spPr>
          <a:xfrm>
            <a:off x="3200400" y="2834640"/>
            <a:ext cx="2651760" cy="2011679"/>
          </a:xfrm>
          <a:prstGeom prst="rect">
            <a:avLst/>
          </a:prstGeom>
          <a:solidFill>
            <a:srgbClr val="0D2137"/>
          </a:solidFill>
          <a:ln w="12700">
            <a:solidFill>
              <a:srgbClr val="E2E8F0"/>
            </a:solidFill>
            <a:prstDash val="solid"/>
          </a:ln>
          <a:effectLst>
            <a:outerShdw blurRad="101600" dist="38100" dir="8100000" algn="bl" rotWithShape="0">
              <a:srgbClr val="000000">
                <a:alpha val="12000"/>
              </a:srgbClr>
            </a:outerShdw>
          </a:effectLst>
        </p:spPr>
      </p:sp>
      <p:sp>
        <p:nvSpPr>
          <p:cNvPr id="9" name="Shape 7"/>
          <p:cNvSpPr/>
          <p:nvPr/>
        </p:nvSpPr>
        <p:spPr>
          <a:xfrm>
            <a:off x="3200400" y="2834641"/>
            <a:ext cx="2651760" cy="438912"/>
          </a:xfrm>
          <a:prstGeom prst="rect">
            <a:avLst/>
          </a:prstGeom>
          <a:solidFill>
            <a:srgbClr val="7C3AED"/>
          </a:solidFill>
          <a:ln w="12700">
            <a:solidFill>
              <a:srgbClr val="7C3AED"/>
            </a:solidFill>
            <a:prstDash val="solid"/>
          </a:ln>
        </p:spPr>
      </p:sp>
      <p:sp>
        <p:nvSpPr>
          <p:cNvPr id="10" name="Text 8"/>
          <p:cNvSpPr/>
          <p:nvPr/>
        </p:nvSpPr>
        <p:spPr>
          <a:xfrm>
            <a:off x="3200400" y="2834641"/>
            <a:ext cx="2651760"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Mid-Term</a:t>
            </a:r>
            <a:endParaRPr lang="en-US" sz="1300" dirty="0"/>
          </a:p>
        </p:txBody>
      </p:sp>
      <p:sp>
        <p:nvSpPr>
          <p:cNvPr id="11" name="Text 9"/>
          <p:cNvSpPr/>
          <p:nvPr/>
        </p:nvSpPr>
        <p:spPr>
          <a:xfrm>
            <a:off x="3337560" y="3351276"/>
            <a:ext cx="2377440" cy="1344167"/>
          </a:xfrm>
          <a:prstGeom prst="rect">
            <a:avLst/>
          </a:prstGeom>
          <a:noFill/>
          <a:ln/>
        </p:spPr>
        <p:txBody>
          <a:bodyPr wrap="square" lIns="0" tIns="0" rIns="0" bIns="0" rtlCol="0" anchor="ctr"/>
          <a:lstStyle/>
          <a:p>
            <a:pPr marL="342900" indent="-342900">
              <a:spcAft>
                <a:spcPts val="1400"/>
              </a:spcAft>
              <a:buSzPct val="100000"/>
              <a:buChar char="•"/>
            </a:pPr>
            <a:r>
              <a:rPr lang="en-US" sz="1100" dirty="0">
                <a:solidFill>
                  <a:srgbClr val="B2E8E0"/>
                </a:solidFill>
                <a:latin typeface="Trebuchet MS" pitchFamily="34" charset="0"/>
                <a:ea typeface="Trebuchet MS" pitchFamily="34" charset="-122"/>
                <a:cs typeface="Trebuchet MS" pitchFamily="34" charset="-120"/>
              </a:rPr>
              <a:t>Appliance-level optimization via IoT integration</a:t>
            </a:r>
            <a:endParaRPr lang="en-US" sz="1100" dirty="0"/>
          </a:p>
          <a:p>
            <a:pPr marL="342900" indent="-342900">
              <a:spcAft>
                <a:spcPts val="1400"/>
              </a:spcAft>
              <a:buSzPct val="100000"/>
              <a:buChar char="•"/>
            </a:pPr>
            <a:r>
              <a:rPr lang="en-US" sz="1100" dirty="0">
                <a:solidFill>
                  <a:srgbClr val="B2E8E0"/>
                </a:solidFill>
                <a:latin typeface="Trebuchet MS" pitchFamily="34" charset="0"/>
                <a:ea typeface="Trebuchet MS" pitchFamily="34" charset="-122"/>
                <a:cs typeface="Trebuchet MS" pitchFamily="34" charset="-120"/>
              </a:rPr>
              <a:t>Real-time streaming with Kafka or MQTT</a:t>
            </a:r>
            <a:endParaRPr lang="en-US" sz="1100" dirty="0"/>
          </a:p>
          <a:p>
            <a:pPr marL="342900" indent="-342900">
              <a:spcAft>
                <a:spcPts val="1400"/>
              </a:spcAft>
              <a:buSzPct val="100000"/>
              <a:buChar char="•"/>
            </a:pPr>
            <a:r>
              <a:rPr lang="en-US" sz="1100" dirty="0">
                <a:solidFill>
                  <a:srgbClr val="B2E8E0"/>
                </a:solidFill>
                <a:latin typeface="Trebuchet MS" pitchFamily="34" charset="0"/>
                <a:ea typeface="Trebuchet MS" pitchFamily="34" charset="-122"/>
                <a:cs typeface="Trebuchet MS" pitchFamily="34" charset="-120"/>
              </a:rPr>
              <a:t>User-specific personalization models</a:t>
            </a:r>
            <a:endParaRPr lang="en-US" sz="1100" dirty="0"/>
          </a:p>
        </p:txBody>
      </p:sp>
      <p:sp>
        <p:nvSpPr>
          <p:cNvPr id="12" name="Shape 10"/>
          <p:cNvSpPr/>
          <p:nvPr/>
        </p:nvSpPr>
        <p:spPr>
          <a:xfrm>
            <a:off x="6080760" y="2834640"/>
            <a:ext cx="2651760" cy="2011679"/>
          </a:xfrm>
          <a:prstGeom prst="rect">
            <a:avLst/>
          </a:prstGeom>
          <a:solidFill>
            <a:srgbClr val="0D2137"/>
          </a:solidFill>
          <a:ln w="12700">
            <a:solidFill>
              <a:srgbClr val="E2E8F0"/>
            </a:solidFill>
            <a:prstDash val="solid"/>
          </a:ln>
          <a:effectLst>
            <a:outerShdw blurRad="101600" dist="38100" dir="8100000" algn="bl" rotWithShape="0">
              <a:srgbClr val="000000">
                <a:alpha val="12000"/>
              </a:srgbClr>
            </a:outerShdw>
          </a:effectLst>
        </p:spPr>
      </p:sp>
      <p:sp>
        <p:nvSpPr>
          <p:cNvPr id="13" name="Shape 11"/>
          <p:cNvSpPr/>
          <p:nvPr/>
        </p:nvSpPr>
        <p:spPr>
          <a:xfrm>
            <a:off x="6080760" y="2834641"/>
            <a:ext cx="2651760" cy="438912"/>
          </a:xfrm>
          <a:prstGeom prst="rect">
            <a:avLst/>
          </a:prstGeom>
          <a:solidFill>
            <a:srgbClr val="F59E0B"/>
          </a:solidFill>
          <a:ln w="12700">
            <a:solidFill>
              <a:srgbClr val="F59E0B"/>
            </a:solidFill>
            <a:prstDash val="solid"/>
          </a:ln>
        </p:spPr>
      </p:sp>
      <p:sp>
        <p:nvSpPr>
          <p:cNvPr id="14" name="Text 12"/>
          <p:cNvSpPr/>
          <p:nvPr/>
        </p:nvSpPr>
        <p:spPr>
          <a:xfrm>
            <a:off x="6080760" y="2834641"/>
            <a:ext cx="2651760" cy="43891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Long-Term</a:t>
            </a:r>
            <a:endParaRPr lang="en-US" sz="1300" dirty="0"/>
          </a:p>
        </p:txBody>
      </p:sp>
      <p:sp>
        <p:nvSpPr>
          <p:cNvPr id="15" name="Text 13"/>
          <p:cNvSpPr/>
          <p:nvPr/>
        </p:nvSpPr>
        <p:spPr>
          <a:xfrm>
            <a:off x="6217920" y="3351276"/>
            <a:ext cx="2377440" cy="1344167"/>
          </a:xfrm>
          <a:prstGeom prst="rect">
            <a:avLst/>
          </a:prstGeom>
          <a:noFill/>
          <a:ln/>
        </p:spPr>
        <p:txBody>
          <a:bodyPr wrap="square" lIns="0" tIns="0" rIns="0" bIns="0" rtlCol="0" anchor="ctr"/>
          <a:lstStyle/>
          <a:p>
            <a:pPr marL="342900" indent="-342900">
              <a:spcAft>
                <a:spcPts val="1400"/>
              </a:spcAft>
              <a:buSzPct val="100000"/>
              <a:buChar char="•"/>
            </a:pPr>
            <a:r>
              <a:rPr lang="en-US" sz="1100" dirty="0">
                <a:solidFill>
                  <a:srgbClr val="B2E8E0"/>
                </a:solidFill>
                <a:latin typeface="Trebuchet MS" pitchFamily="34" charset="0"/>
                <a:ea typeface="Trebuchet MS" pitchFamily="34" charset="-122"/>
                <a:cs typeface="Trebuchet MS" pitchFamily="34" charset="-120"/>
              </a:rPr>
              <a:t>Reinforcement Learning for dynamic scheduling</a:t>
            </a:r>
            <a:endParaRPr lang="en-US" sz="1100" dirty="0"/>
          </a:p>
          <a:p>
            <a:pPr marL="342900" indent="-342900">
              <a:spcAft>
                <a:spcPts val="1400"/>
              </a:spcAft>
              <a:buSzPct val="100000"/>
              <a:buChar char="•"/>
            </a:pPr>
            <a:r>
              <a:rPr lang="en-US" sz="1100" dirty="0">
                <a:solidFill>
                  <a:srgbClr val="B2E8E0"/>
                </a:solidFill>
                <a:latin typeface="Trebuchet MS" pitchFamily="34" charset="0"/>
                <a:ea typeface="Trebuchet MS" pitchFamily="34" charset="-122"/>
                <a:cs typeface="Trebuchet MS" pitchFamily="34" charset="-120"/>
              </a:rPr>
              <a:t>Multi-building portfolio optimization</a:t>
            </a:r>
            <a:endParaRPr lang="en-US" sz="1100" dirty="0"/>
          </a:p>
          <a:p>
            <a:pPr marL="342900" indent="-342900">
              <a:spcAft>
                <a:spcPts val="1400"/>
              </a:spcAft>
              <a:buSzPct val="100000"/>
              <a:buChar char="•"/>
            </a:pPr>
            <a:r>
              <a:rPr lang="en-US" sz="1100" dirty="0">
                <a:solidFill>
                  <a:srgbClr val="B2E8E0"/>
                </a:solidFill>
                <a:latin typeface="Trebuchet MS" pitchFamily="34" charset="0"/>
                <a:ea typeface="Trebuchet MS" pitchFamily="34" charset="-122"/>
                <a:cs typeface="Trebuchet MS" pitchFamily="34" charset="-120"/>
              </a:rPr>
              <a:t>Mobile app version with push anomaly alerts</a:t>
            </a:r>
            <a:endParaRPr lang="en-US" sz="1100" dirty="0"/>
          </a:p>
        </p:txBody>
      </p:sp>
      <p:sp>
        <p:nvSpPr>
          <p:cNvPr id="16" name="Text 14"/>
          <p:cNvSpPr/>
          <p:nvPr/>
        </p:nvSpPr>
        <p:spPr>
          <a:xfrm>
            <a:off x="365760" y="4864608"/>
            <a:ext cx="8412480" cy="201168"/>
          </a:xfrm>
          <a:prstGeom prst="rect">
            <a:avLst/>
          </a:prstGeom>
          <a:noFill/>
          <a:ln/>
        </p:spPr>
        <p:txBody>
          <a:bodyPr wrap="square" lIns="0" tIns="0" rIns="0" bIns="0" rtlCol="0" anchor="ctr"/>
          <a:lstStyle/>
          <a:p>
            <a:pPr marL="0" indent="0" algn="ctr">
              <a:buNone/>
            </a:pPr>
            <a:r>
              <a:rPr lang="en-US" sz="900" dirty="0">
                <a:solidFill>
                  <a:srgbClr val="64748B"/>
                </a:solidFill>
                <a:latin typeface="Trebuchet MS" pitchFamily="34" charset="0"/>
                <a:ea typeface="Trebuchet MS" pitchFamily="34" charset="-122"/>
                <a:cs typeface="Trebuchet MS" pitchFamily="34" charset="-120"/>
              </a:rPr>
              <a:t>Tier 2 &amp; 3 items are documented in the architecture spec and ready for implementation when scope permits.</a:t>
            </a:r>
            <a:endParaRPr lang="en-US" sz="900" dirty="0"/>
          </a:p>
        </p:txBody>
      </p:sp>
      <p:sp>
        <p:nvSpPr>
          <p:cNvPr id="18" name="TextBox 17">
            <a:extLst>
              <a:ext uri="{FF2B5EF4-FFF2-40B4-BE49-F238E27FC236}">
                <a16:creationId xmlns:a16="http://schemas.microsoft.com/office/drawing/2014/main" id="{3B5CC51F-0716-94F3-F050-3EBB21F2B7A7}"/>
              </a:ext>
            </a:extLst>
          </p:cNvPr>
          <p:cNvSpPr txBox="1"/>
          <p:nvPr/>
        </p:nvSpPr>
        <p:spPr>
          <a:xfrm>
            <a:off x="320039" y="987642"/>
            <a:ext cx="8412479" cy="1569660"/>
          </a:xfrm>
          <a:prstGeom prst="rect">
            <a:avLst/>
          </a:prstGeom>
          <a:noFill/>
        </p:spPr>
        <p:txBody>
          <a:bodyPr wrap="square">
            <a:spAutoFit/>
          </a:bodyPr>
          <a:lstStyle/>
          <a:p>
            <a:r>
              <a:rPr lang="en-US" sz="1600" dirty="0">
                <a:solidFill>
                  <a:schemeClr val="bg1"/>
                </a:solidFill>
              </a:rPr>
              <a:t>The system can be extended to operate at the appliance level by integrating IoT-enabled smart meters, enabling more precise control and recommendations. Real-time data streaming can be incorporated to replace static historical initialization and provide continuous updates. The model can also be personalized for different users or environments to improve prediction accuracy. A mobile application interface can further enhance accessibility. Additionally, the system can be extended to automate scheduling decisions rather than just recommending them.</a:t>
            </a:r>
            <a:endParaRPr lang="en-IN" sz="16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274320" y="118872"/>
            <a:ext cx="2011680" cy="347472"/>
          </a:xfrm>
          <a:prstGeom prst="roundRect">
            <a:avLst>
              <a:gd name="adj" fmla="val 21429"/>
            </a:avLst>
          </a:prstGeom>
          <a:solidFill>
            <a:srgbClr val="0A7C6E"/>
          </a:solidFill>
          <a:ln w="12700">
            <a:solidFill>
              <a:srgbClr val="0A7C6E"/>
            </a:solidFill>
            <a:prstDash val="solid"/>
          </a:ln>
        </p:spPr>
      </p:sp>
      <p:sp>
        <p:nvSpPr>
          <p:cNvPr id="3" name="Text 1"/>
          <p:cNvSpPr/>
          <p:nvPr/>
        </p:nvSpPr>
        <p:spPr>
          <a:xfrm>
            <a:off x="274320" y="82296"/>
            <a:ext cx="2011680" cy="420624"/>
          </a:xfrm>
          <a:prstGeom prst="rect">
            <a:avLst/>
          </a:prstGeom>
          <a:noFill/>
          <a:ln/>
        </p:spPr>
        <p:txBody>
          <a:bodyPr wrap="square" lIns="0" tIns="0" rIns="0" bIns="0" rtlCol="0" anchor="ctr"/>
          <a:lstStyle/>
          <a:p>
            <a:pPr marL="0" indent="0" algn="ctr">
              <a:buNone/>
            </a:pPr>
            <a:r>
              <a:rPr lang="en-US" sz="1100" b="1" kern="0" spc="200" dirty="0">
                <a:solidFill>
                  <a:srgbClr val="FFFFFF"/>
                </a:solidFill>
              </a:rPr>
              <a:t>CONCLUSION</a:t>
            </a:r>
            <a:endParaRPr lang="en-US" sz="1100" dirty="0"/>
          </a:p>
        </p:txBody>
      </p:sp>
      <p:sp>
        <p:nvSpPr>
          <p:cNvPr id="4" name="Text 2"/>
          <p:cNvSpPr/>
          <p:nvPr/>
        </p:nvSpPr>
        <p:spPr>
          <a:xfrm>
            <a:off x="365760" y="502920"/>
            <a:ext cx="8412480" cy="475488"/>
          </a:xfrm>
          <a:prstGeom prst="rect">
            <a:avLst/>
          </a:prstGeom>
          <a:noFill/>
          <a:ln/>
        </p:spPr>
        <p:txBody>
          <a:bodyPr wrap="square" lIns="0" tIns="0" rIns="0" bIns="0" rtlCol="0" anchor="ctr"/>
          <a:lstStyle/>
          <a:p>
            <a:pPr marL="0" indent="0">
              <a:buNone/>
            </a:pPr>
            <a:r>
              <a:rPr lang="en-US" sz="2600" b="1" dirty="0">
                <a:solidFill>
                  <a:srgbClr val="0D1B2A"/>
                </a:solidFill>
                <a:latin typeface="Trebuchet MS" pitchFamily="34" charset="0"/>
                <a:ea typeface="Trebuchet MS" pitchFamily="34" charset="-122"/>
                <a:cs typeface="Trebuchet MS" pitchFamily="34" charset="-120"/>
              </a:rPr>
              <a:t>What This System Delivers</a:t>
            </a:r>
            <a:endParaRPr lang="en-US" sz="2600" dirty="0"/>
          </a:p>
        </p:txBody>
      </p:sp>
      <p:sp>
        <p:nvSpPr>
          <p:cNvPr id="5" name="Shape 3"/>
          <p:cNvSpPr/>
          <p:nvPr/>
        </p:nvSpPr>
        <p:spPr>
          <a:xfrm>
            <a:off x="365760" y="1024128"/>
            <a:ext cx="8412480" cy="0"/>
          </a:xfrm>
          <a:prstGeom prst="line">
            <a:avLst/>
          </a:prstGeom>
          <a:noFill/>
          <a:ln w="12700">
            <a:solidFill>
              <a:srgbClr val="E2E8F0"/>
            </a:solidFill>
            <a:prstDash val="solid"/>
          </a:ln>
        </p:spPr>
      </p:sp>
      <p:sp>
        <p:nvSpPr>
          <p:cNvPr id="8" name="Text 5"/>
          <p:cNvSpPr/>
          <p:nvPr/>
        </p:nvSpPr>
        <p:spPr>
          <a:xfrm>
            <a:off x="365760" y="2563586"/>
            <a:ext cx="7818120" cy="384048"/>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400" dirty="0">
                <a:latin typeface="Trebuchet MS" pitchFamily="34" charset="0"/>
                <a:ea typeface="Trebuchet MS" pitchFamily="34" charset="-122"/>
                <a:cs typeface="Trebuchet MS" pitchFamily="34" charset="-120"/>
              </a:rPr>
              <a:t>Predicts 24–48h energy consumption with LightGBM — RMSE 0.5035, beating all baselines</a:t>
            </a:r>
            <a:endParaRPr lang="en-US" sz="1400" dirty="0"/>
          </a:p>
        </p:txBody>
      </p:sp>
      <p:sp>
        <p:nvSpPr>
          <p:cNvPr id="11" name="Text 7"/>
          <p:cNvSpPr/>
          <p:nvPr/>
        </p:nvSpPr>
        <p:spPr>
          <a:xfrm>
            <a:off x="365760" y="2855541"/>
            <a:ext cx="7818120" cy="384048"/>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400" dirty="0">
                <a:latin typeface="Trebuchet MS" pitchFamily="34" charset="0"/>
                <a:ea typeface="Trebuchet MS" pitchFamily="34" charset="-122"/>
                <a:cs typeface="Trebuchet MS" pitchFamily="34" charset="-120"/>
              </a:rPr>
              <a:t>Detects anomalies at Precision 0.846 / Recall 0.733 using validated AND-gate logic</a:t>
            </a:r>
            <a:endParaRPr lang="en-US" sz="1400" dirty="0"/>
          </a:p>
        </p:txBody>
      </p:sp>
      <p:sp>
        <p:nvSpPr>
          <p:cNvPr id="14" name="Text 9"/>
          <p:cNvSpPr/>
          <p:nvPr/>
        </p:nvSpPr>
        <p:spPr>
          <a:xfrm>
            <a:off x="365760" y="3157293"/>
            <a:ext cx="7818120" cy="384048"/>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400" dirty="0">
                <a:latin typeface="Trebuchet MS" pitchFamily="34" charset="0"/>
                <a:ea typeface="Trebuchet MS" pitchFamily="34" charset="-122"/>
                <a:cs typeface="Trebuchet MS" pitchFamily="34" charset="-120"/>
              </a:rPr>
              <a:t>Optimizes hourly load schedules via LP — reducing electricity cost by 15–20% per session</a:t>
            </a:r>
            <a:endParaRPr lang="en-US" sz="1400" dirty="0"/>
          </a:p>
        </p:txBody>
      </p:sp>
      <p:sp>
        <p:nvSpPr>
          <p:cNvPr id="17" name="Text 11"/>
          <p:cNvSpPr/>
          <p:nvPr/>
        </p:nvSpPr>
        <p:spPr>
          <a:xfrm>
            <a:off x="365760" y="3476027"/>
            <a:ext cx="7818120" cy="384048"/>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400" dirty="0">
                <a:latin typeface="Trebuchet MS" pitchFamily="34" charset="0"/>
                <a:ea typeface="Trebuchet MS" pitchFamily="34" charset="-122"/>
                <a:cs typeface="Trebuchet MS" pitchFamily="34" charset="-120"/>
              </a:rPr>
              <a:t>Delivers all three capabilities through a clean FastAPI + React full-stack system</a:t>
            </a:r>
            <a:endParaRPr lang="en-US" sz="1400" dirty="0"/>
          </a:p>
        </p:txBody>
      </p:sp>
      <p:sp>
        <p:nvSpPr>
          <p:cNvPr id="20" name="Text 13"/>
          <p:cNvSpPr/>
          <p:nvPr/>
        </p:nvSpPr>
        <p:spPr>
          <a:xfrm>
            <a:off x="365760" y="3787576"/>
            <a:ext cx="7818120" cy="384048"/>
          </a:xfrm>
          <a:prstGeom prst="rect">
            <a:avLst/>
          </a:prstGeom>
          <a:noFill/>
          <a:ln/>
        </p:spPr>
        <p:txBody>
          <a:bodyPr wrap="square" lIns="0" tIns="0" rIns="0" bIns="0" rtlCol="0" anchor="ctr"/>
          <a:lstStyle/>
          <a:p>
            <a:pPr marL="285750" indent="-285750">
              <a:buFont typeface="Wingdings" panose="05000000000000000000" pitchFamily="2" charset="2"/>
              <a:buChar char="Ø"/>
            </a:pPr>
            <a:r>
              <a:rPr lang="en-US" sz="1400" dirty="0">
                <a:latin typeface="Trebuchet MS" pitchFamily="34" charset="0"/>
                <a:ea typeface="Trebuchet MS" pitchFamily="34" charset="-122"/>
                <a:cs typeface="Trebuchet MS" pitchFamily="34" charset="-120"/>
              </a:rPr>
              <a:t>End-to-end: from raw UCI meter data to live dashboard, with no manual steps at inference</a:t>
            </a:r>
            <a:endParaRPr lang="en-US" sz="1400" dirty="0"/>
          </a:p>
        </p:txBody>
      </p:sp>
      <p:sp>
        <p:nvSpPr>
          <p:cNvPr id="21" name="Shape 14"/>
          <p:cNvSpPr/>
          <p:nvPr/>
        </p:nvSpPr>
        <p:spPr>
          <a:xfrm>
            <a:off x="365760" y="4617720"/>
            <a:ext cx="8412480" cy="347472"/>
          </a:xfrm>
          <a:prstGeom prst="rect">
            <a:avLst/>
          </a:prstGeom>
          <a:solidFill>
            <a:srgbClr val="0D1B2A"/>
          </a:solidFill>
          <a:ln w="12700">
            <a:solidFill>
              <a:srgbClr val="E2E8F0"/>
            </a:solidFill>
            <a:prstDash val="solid"/>
          </a:ln>
          <a:effectLst>
            <a:outerShdw blurRad="101600" dist="38100" dir="8100000" algn="bl" rotWithShape="0">
              <a:srgbClr val="000000">
                <a:alpha val="12000"/>
              </a:srgbClr>
            </a:outerShdw>
          </a:effectLst>
        </p:spPr>
      </p:sp>
      <p:sp>
        <p:nvSpPr>
          <p:cNvPr id="22" name="Text 15"/>
          <p:cNvSpPr/>
          <p:nvPr/>
        </p:nvSpPr>
        <p:spPr>
          <a:xfrm>
            <a:off x="365760" y="4617720"/>
            <a:ext cx="8412480" cy="347472"/>
          </a:xfrm>
          <a:prstGeom prst="rect">
            <a:avLst/>
          </a:prstGeom>
          <a:noFill/>
          <a:ln/>
        </p:spPr>
        <p:txBody>
          <a:bodyPr wrap="square" lIns="0" tIns="0" rIns="0" bIns="0" rtlCol="0" anchor="ctr"/>
          <a:lstStyle/>
          <a:p>
            <a:pPr marL="0" indent="0" algn="ctr">
              <a:buNone/>
            </a:pPr>
            <a:r>
              <a:rPr lang="en-US" sz="1200" b="1" dirty="0">
                <a:solidFill>
                  <a:srgbClr val="02C39A"/>
                </a:solidFill>
                <a:latin typeface="Trebuchet MS" pitchFamily="34" charset="0"/>
                <a:ea typeface="Trebuchet MS" pitchFamily="34" charset="-122"/>
                <a:cs typeface="Trebuchet MS" pitchFamily="34" charset="-120"/>
              </a:rPr>
              <a:t>Predict  •  Detect  •  Optimize  —  Decision Support, Not Just Data</a:t>
            </a:r>
            <a:endParaRPr lang="en-US" sz="1200" dirty="0"/>
          </a:p>
        </p:txBody>
      </p:sp>
      <p:sp>
        <p:nvSpPr>
          <p:cNvPr id="24" name="TextBox 23">
            <a:extLst>
              <a:ext uri="{FF2B5EF4-FFF2-40B4-BE49-F238E27FC236}">
                <a16:creationId xmlns:a16="http://schemas.microsoft.com/office/drawing/2014/main" id="{49AC5240-6D97-81BD-D356-A22AA1693C26}"/>
              </a:ext>
            </a:extLst>
          </p:cNvPr>
          <p:cNvSpPr txBox="1"/>
          <p:nvPr/>
        </p:nvSpPr>
        <p:spPr>
          <a:xfrm>
            <a:off x="274320" y="1149360"/>
            <a:ext cx="8412480" cy="1323439"/>
          </a:xfrm>
          <a:prstGeom prst="rect">
            <a:avLst/>
          </a:prstGeom>
          <a:noFill/>
        </p:spPr>
        <p:txBody>
          <a:bodyPr wrap="square">
            <a:spAutoFit/>
          </a:bodyPr>
          <a:lstStyle/>
          <a:p>
            <a:r>
              <a:rPr lang="en-US" sz="1600" dirty="0"/>
              <a:t>This project demonstrates how machine learning, anomaly detection, and optimization can be combined into a unified system that not only predicts energy consumption but actively improves it. By transforming raw data into actionable insights, the system enables proactive energy management and cost reduction. It highlights the importance of integrating multiple technologies into a cohesive solution that delivers both technical performance and practical value.</a:t>
            </a:r>
            <a:endParaRPr lang="en-IN"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C6E"/>
          </a:solidFill>
          <a:ln w="12700">
            <a:solidFill>
              <a:srgbClr val="0A7C6E"/>
            </a:solidFill>
            <a:prstDash val="solid"/>
          </a:ln>
        </p:spPr>
      </p:sp>
      <p:sp>
        <p:nvSpPr>
          <p:cNvPr id="3" name="Shape 1"/>
          <p:cNvSpPr/>
          <p:nvPr/>
        </p:nvSpPr>
        <p:spPr>
          <a:xfrm>
            <a:off x="3657600" y="640080"/>
            <a:ext cx="1828800" cy="1828800"/>
          </a:xfrm>
          <a:prstGeom prst="ellipse">
            <a:avLst/>
          </a:prstGeom>
          <a:solidFill>
            <a:srgbClr val="0A7C6E">
              <a:alpha val="15000"/>
            </a:srgbClr>
          </a:solidFill>
          <a:ln w="25400">
            <a:solidFill>
              <a:srgbClr val="0A7C6E"/>
            </a:solidFill>
            <a:prstDash val="solid"/>
          </a:ln>
        </p:spPr>
      </p:sp>
      <p:pic>
        <p:nvPicPr>
          <p:cNvPr id="4" name="Image 0" descr="preencoded.png"/>
          <p:cNvPicPr>
            <a:picLocks noChangeAspect="1"/>
          </p:cNvPicPr>
          <p:nvPr/>
        </p:nvPicPr>
        <p:blipFill>
          <a:blip r:embed="rId3"/>
          <a:stretch>
            <a:fillRect/>
          </a:stretch>
        </p:blipFill>
        <p:spPr>
          <a:xfrm>
            <a:off x="4133088" y="1115568"/>
            <a:ext cx="877824" cy="877824"/>
          </a:xfrm>
          <a:prstGeom prst="rect">
            <a:avLst/>
          </a:prstGeom>
        </p:spPr>
      </p:pic>
      <p:sp>
        <p:nvSpPr>
          <p:cNvPr id="5" name="Text 2"/>
          <p:cNvSpPr/>
          <p:nvPr/>
        </p:nvSpPr>
        <p:spPr>
          <a:xfrm>
            <a:off x="914400" y="2651760"/>
            <a:ext cx="7315200" cy="658368"/>
          </a:xfrm>
          <a:prstGeom prst="rect">
            <a:avLst/>
          </a:prstGeom>
          <a:noFill/>
          <a:ln/>
        </p:spPr>
        <p:txBody>
          <a:bodyPr wrap="square" lIns="0" tIns="0" rIns="0" bIns="0" rtlCol="0" anchor="ctr"/>
          <a:lstStyle/>
          <a:p>
            <a:pPr marL="0" indent="0" algn="ctr">
              <a:buNone/>
            </a:pPr>
            <a:r>
              <a:rPr lang="en-US" sz="4000" b="1" dirty="0">
                <a:solidFill>
                  <a:srgbClr val="FFFFFF"/>
                </a:solidFill>
                <a:latin typeface="Trebuchet MS" pitchFamily="34" charset="0"/>
                <a:ea typeface="Trebuchet MS" pitchFamily="34" charset="-122"/>
                <a:cs typeface="Trebuchet MS" pitchFamily="34" charset="-120"/>
              </a:rPr>
              <a:t>Thank You</a:t>
            </a:r>
            <a:endParaRPr lang="en-US" sz="4000" dirty="0"/>
          </a:p>
        </p:txBody>
      </p:sp>
      <p:sp>
        <p:nvSpPr>
          <p:cNvPr id="6" name="Shape 3"/>
          <p:cNvSpPr/>
          <p:nvPr/>
        </p:nvSpPr>
        <p:spPr>
          <a:xfrm>
            <a:off x="3200400" y="3337560"/>
            <a:ext cx="2743200" cy="45720"/>
          </a:xfrm>
          <a:prstGeom prst="rect">
            <a:avLst/>
          </a:prstGeom>
          <a:solidFill>
            <a:srgbClr val="02C39A"/>
          </a:solidFill>
          <a:ln w="12700">
            <a:solidFill>
              <a:srgbClr val="02C39A"/>
            </a:solidFill>
            <a:prstDash val="solid"/>
          </a:ln>
        </p:spPr>
      </p:sp>
      <p:sp>
        <p:nvSpPr>
          <p:cNvPr id="7" name="Text 4"/>
          <p:cNvSpPr/>
          <p:nvPr/>
        </p:nvSpPr>
        <p:spPr>
          <a:xfrm>
            <a:off x="1051560" y="3799332"/>
            <a:ext cx="7315200" cy="457200"/>
          </a:xfrm>
          <a:prstGeom prst="rect">
            <a:avLst/>
          </a:prstGeom>
          <a:noFill/>
          <a:ln/>
        </p:spPr>
        <p:txBody>
          <a:bodyPr wrap="square" lIns="0" tIns="0" rIns="0" bIns="0" rtlCol="0" anchor="ctr"/>
          <a:lstStyle/>
          <a:p>
            <a:pPr marL="0" indent="0" algn="ctr">
              <a:buNone/>
            </a:pPr>
            <a:r>
              <a:rPr lang="en-US" sz="2200" dirty="0">
                <a:solidFill>
                  <a:srgbClr val="02C39A"/>
                </a:solidFill>
                <a:latin typeface="Trebuchet MS" pitchFamily="34" charset="0"/>
                <a:ea typeface="Trebuchet MS" pitchFamily="34" charset="-122"/>
                <a:cs typeface="Trebuchet MS" pitchFamily="34" charset="-120"/>
              </a:rPr>
              <a:t>I would be happy to answer any questions and discuss the system, design decisions, and potential improvements in more detail.</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TotalTime>
  <Words>1197</Words>
  <Application>Microsoft Office PowerPoint</Application>
  <PresentationFormat>On-screen Show (16:9)</PresentationFormat>
  <Paragraphs>146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Times New Roman</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Energy Consumption Optimizer</dc:title>
  <dc:subject>PptxGenJS Presentation</dc:subject>
  <dc:creator>Kaviyathamizhan</dc:creator>
  <cp:lastModifiedBy>KAVIYATHAMIZHAN TK</cp:lastModifiedBy>
  <cp:revision>3</cp:revision>
  <dcterms:created xsi:type="dcterms:W3CDTF">2026-04-29T07:47:38Z</dcterms:created>
  <dcterms:modified xsi:type="dcterms:W3CDTF">2026-04-30T07:40:52Z</dcterms:modified>
</cp:coreProperties>
</file>